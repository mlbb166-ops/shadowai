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6256000" cy="9144000"/>
  <p:notesSz cx="9144000" cy="16256000"/>
  <p:embeddedFontLst>
    <p:embeddedFont>
      <p:font typeface="Plus Jakarta Sans" charset="-122" pitchFamily="34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3-4.png"/><Relationship Id="rId4" Type="http://schemas.openxmlformats.org/officeDocument/2006/relationships/image" Target="../media/image-7-4.png"/><Relationship Id="rId5" Type="http://schemas.openxmlformats.org/officeDocument/2006/relationships/image" Target="../media/image-3-2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shape-1"/>
          <p:cNvSpPr/>
          <p:nvPr/>
        </p:nvSpPr>
        <p:spPr>
          <a:xfrm>
            <a:off x="762000" y="508000"/>
            <a:ext cx="965200" cy="508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cover-text-2"/>
          <p:cNvSpPr/>
          <p:nvPr/>
        </p:nvSpPr>
        <p:spPr>
          <a:xfrm>
            <a:off x="762000" y="1219200"/>
            <a:ext cx="990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54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NutriShield v2</a:t>
            </a:r>
            <a:endParaRPr lang="en-US" sz="5400" dirty="0"/>
          </a:p>
        </p:txBody>
      </p:sp>
      <p:sp>
        <p:nvSpPr>
          <p:cNvPr id="4" name="cover-text-3"/>
          <p:cNvSpPr/>
          <p:nvPr/>
        </p:nvSpPr>
        <p:spPr>
          <a:xfrm>
            <a:off x="762000" y="2235200"/>
            <a:ext cx="10414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&amp; Arsitektur Agentic AI</a:t>
            </a:r>
            <a:endParaRPr lang="en-US" sz="3400" dirty="0"/>
          </a:p>
        </p:txBody>
      </p:sp>
      <p:sp>
        <p:nvSpPr>
          <p:cNvPr id="5" name="cover-text-4"/>
          <p:cNvSpPr/>
          <p:nvPr/>
        </p:nvSpPr>
        <p:spPr>
          <a:xfrm>
            <a:off x="762000" y="3200400"/>
            <a:ext cx="977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en-US" altLang="en-US" sz="22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Pendamping pencatatan pertumbuhan anak, penjelasan data pangan, dan tindak lanjut yang dapat ditelusuri—dibangun untuk keluarga awam dengan batas keselamatan yang eksplisit.</a:t>
            </a:r>
            <a:endParaRPr lang="en-US" sz="2200" dirty="0"/>
          </a:p>
        </p:txBody>
      </p:sp>
      <p:sp>
        <p:nvSpPr>
          <p:cNvPr id="6" name="cover-shape-5"/>
          <p:cNvSpPr/>
          <p:nvPr/>
        </p:nvSpPr>
        <p:spPr>
          <a:xfrm>
            <a:off x="762000" y="5562600"/>
            <a:ext cx="4191000" cy="1574800"/>
          </a:xfrm>
          <a:prstGeom prst="roundRect">
            <a:avLst>
              <a:gd name="adj" fmla="val 8065"/>
            </a:avLst>
          </a:prstGeom>
          <a:solidFill>
            <a:srgbClr val="E8F0EB"/>
          </a:solidFill>
          <a:ln/>
        </p:spPr>
      </p:sp>
      <p:sp>
        <p:nvSpPr>
          <p:cNvPr id="7" name="cover-text-6"/>
          <p:cNvSpPr/>
          <p:nvPr/>
        </p:nvSpPr>
        <p:spPr>
          <a:xfrm>
            <a:off x="1066800" y="5816600"/>
            <a:ext cx="3581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Prototipe sandbox</a:t>
            </a:r>
            <a:endParaRPr lang="en-US" sz="20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Tidak terhubung ke domain produksi dan bukan layanan diagnosis.</a:t>
            </a:r>
            <a:endParaRPr lang="en-US" sz="2000" dirty="0"/>
          </a:p>
        </p:txBody>
      </p:sp>
      <p:sp>
        <p:nvSpPr>
          <p:cNvPr id="8" name="cover-shape-7"/>
          <p:cNvSpPr/>
          <p:nvPr/>
        </p:nvSpPr>
        <p:spPr>
          <a:xfrm>
            <a:off x="5334000" y="5562600"/>
            <a:ext cx="4191000" cy="1574800"/>
          </a:xfrm>
          <a:prstGeom prst="roundRect">
            <a:avLst>
              <a:gd name="adj" fmla="val 8065"/>
            </a:avLst>
          </a:prstGeom>
          <a:solidFill>
            <a:srgbClr val="F2EFE9"/>
          </a:solidFill>
          <a:ln/>
        </p:spPr>
      </p:sp>
      <p:sp>
        <p:nvSpPr>
          <p:cNvPr id="9" name="cover-text-8"/>
          <p:cNvSpPr/>
          <p:nvPr/>
        </p:nvSpPr>
        <p:spPr>
          <a:xfrm>
            <a:off x="5638800" y="5816600"/>
            <a:ext cx="3581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 event-driven</a:t>
            </a:r>
            <a:endParaRPr lang="en-US" sz="20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 tahap tercatat, allow-list, safety policy, dan deterministic fallback.</a:t>
            </a:r>
            <a:endParaRPr lang="en-US" sz="2000" dirty="0"/>
          </a:p>
        </p:txBody>
      </p:sp>
      <p:sp>
        <p:nvSpPr>
          <p:cNvPr id="10" name="cover-shape-9"/>
          <p:cNvSpPr/>
          <p:nvPr/>
        </p:nvSpPr>
        <p:spPr>
          <a:xfrm>
            <a:off x="9906000" y="5562600"/>
            <a:ext cx="4191000" cy="1574800"/>
          </a:xfrm>
          <a:prstGeom prst="roundRect">
            <a:avLst>
              <a:gd name="adj" fmla="val 8065"/>
            </a:avLst>
          </a:prstGeom>
          <a:solidFill>
            <a:srgbClr val="F2EFE9"/>
          </a:solidFill>
          <a:ln/>
        </p:spPr>
      </p:sp>
      <p:sp>
        <p:nvSpPr>
          <p:cNvPr id="11" name="cover-text-10"/>
          <p:cNvSpPr/>
          <p:nvPr/>
        </p:nvSpPr>
        <p:spPr>
          <a:xfrm>
            <a:off x="10210800" y="5816600"/>
            <a:ext cx="35814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transparan</a:t>
            </a:r>
            <a:endParaRPr lang="en-US" sz="20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altLang="en-US" sz="16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Raw, canonical, provenance, quarantine, dan eligibility terpisah.</a:t>
            </a:r>
            <a:endParaRPr lang="en-US" sz="2000" dirty="0"/>
          </a:p>
        </p:txBody>
      </p:sp>
      <p:sp>
        <p:nvSpPr>
          <p:cNvPr id="12" name="cover-shape-11"/>
          <p:cNvSpPr/>
          <p:nvPr/>
        </p:nvSpPr>
        <p:spPr>
          <a:xfrm>
            <a:off x="762000" y="8128000"/>
            <a:ext cx="13335000" cy="9144"/>
          </a:xfrm>
          <a:prstGeom prst="line">
            <a:avLst/>
          </a:prstGeom>
          <a:ln w="12700">
            <a:solidFill>
              <a:srgbClr val="D3D9D5"/>
            </a:solidFill>
            <a:prstDash val="solid"/>
          </a:ln>
        </p:spPr>
      </p:sp>
      <p:sp>
        <p:nvSpPr>
          <p:cNvPr id="13" name="cover-text-12"/>
          <p:cNvSpPr/>
          <p:nvPr/>
        </p:nvSpPr>
        <p:spPr>
          <a:xfrm>
            <a:off x="762000" y="8356600"/>
            <a:ext cx="965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NutriShield v2 · Presentasi produk dan teknis · 2026</a:t>
            </a:r>
            <a:endParaRPr lang="en-US" sz="1400" dirty="0"/>
          </a:p>
        </p:txBody>
      </p:sp>
      <p:sp>
        <p:nvSpPr>
          <p:cNvPr id="14" name="cover-text-13"/>
          <p:cNvSpPr/>
          <p:nvPr/>
        </p:nvSpPr>
        <p:spPr>
          <a:xfrm>
            <a:off x="14859000" y="83566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duct_boundary-shape-1"/>
          <p:cNvSpPr/>
          <p:nvPr/>
        </p:nvSpPr>
        <p:spPr>
          <a:xfrm>
            <a:off x="762000" y="508000"/>
            <a:ext cx="965200" cy="508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product_boundary-text-2"/>
          <p:cNvSpPr/>
          <p:nvPr/>
        </p:nvSpPr>
        <p:spPr>
          <a:xfrm>
            <a:off x="762000" y="863600"/>
            <a:ext cx="1181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Tujuan produk &amp; batas yang jujur</a:t>
            </a:r>
            <a:endParaRPr lang="en-US" sz="3200" dirty="0"/>
          </a:p>
        </p:txBody>
      </p:sp>
      <p:sp>
        <p:nvSpPr>
          <p:cNvPr id="4" name="product_boundary-text-3"/>
          <p:cNvSpPr/>
          <p:nvPr/>
        </p:nvSpPr>
        <p:spPr>
          <a:xfrm>
            <a:off x="762000" y="1600200"/>
            <a:ext cx="12446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Fokus awal adalah membantu keluarga awam mencatat dan memahami data yang tersedia, bukan mengarahkan langsung ke tenaga kesehatan.</a:t>
            </a:r>
            <a:endParaRPr lang="en-US" sz="2000" dirty="0"/>
          </a:p>
        </p:txBody>
      </p:sp>
      <p:sp>
        <p:nvSpPr>
          <p:cNvPr id="5" name="product_boundary-shape-4"/>
          <p:cNvSpPr/>
          <p:nvPr/>
        </p:nvSpPr>
        <p:spPr>
          <a:xfrm>
            <a:off x="762000" y="2463800"/>
            <a:ext cx="6985000" cy="4953000"/>
          </a:xfrm>
          <a:prstGeom prst="roundRect">
            <a:avLst>
              <a:gd name="adj" fmla="val 2564"/>
            </a:avLst>
          </a:prstGeom>
          <a:solidFill>
            <a:srgbClr val="E8F0EB"/>
          </a:solidFill>
          <a:ln/>
        </p:spPr>
      </p:sp>
      <p:sp>
        <p:nvSpPr>
          <p:cNvPr id="6" name="product_boundary-text-5"/>
          <p:cNvSpPr/>
          <p:nvPr/>
        </p:nvSpPr>
        <p:spPr>
          <a:xfrm>
            <a:off x="1117600" y="2819400"/>
            <a:ext cx="627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NutriShield membantu</a:t>
            </a:r>
            <a:endParaRPr lang="en-US" sz="2400" dirty="0"/>
          </a:p>
        </p:txBody>
      </p:sp>
      <p:sp>
        <p:nvSpPr>
          <p:cNvPr id="7" name="product_boundary-text-6"/>
          <p:cNvSpPr/>
          <p:nvPr/>
        </p:nvSpPr>
        <p:spPr>
          <a:xfrm>
            <a:off x="1117600" y="3581400"/>
            <a:ext cx="62738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Mencatat profil anak dan hasil pengukuran.</a:t>
            </a:r>
            <a:endParaRPr lang="en-US" sz="2100" dirty="0"/>
          </a:p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Menampilkan aktivitas agent dan alasan tindak lanjut.</a:t>
            </a:r>
            <a:endParaRPr lang="en-US" sz="2100" dirty="0"/>
          </a:p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Mencari informasi pangan dengan provenance dan mutu data.</a:t>
            </a:r>
            <a:endParaRPr lang="en-US" sz="2100" dirty="0"/>
          </a:p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Menjelaskan hasil deterministik dalam bahasa sederhana.</a:t>
            </a:r>
            <a:endParaRPr lang="en-US" sz="2100" dirty="0"/>
          </a:p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Menghubungkan web ke Telegram setelah consent dan identitas tertaut.</a:t>
            </a:r>
            <a:endParaRPr lang="en-US" sz="2100" dirty="0"/>
          </a:p>
        </p:txBody>
      </p:sp>
      <p:sp>
        <p:nvSpPr>
          <p:cNvPr id="8" name="product_boundary-shape-7"/>
          <p:cNvSpPr/>
          <p:nvPr/>
        </p:nvSpPr>
        <p:spPr>
          <a:xfrm>
            <a:off x="8255000" y="2463800"/>
            <a:ext cx="6985000" cy="4953000"/>
          </a:xfrm>
          <a:prstGeom prst="roundRect">
            <a:avLst>
              <a:gd name="adj" fmla="val 2564"/>
            </a:avLst>
          </a:prstGeom>
          <a:solidFill>
            <a:srgbClr val="F2EFE9"/>
          </a:solidFill>
          <a:ln/>
        </p:spPr>
      </p:sp>
      <p:sp>
        <p:nvSpPr>
          <p:cNvPr id="9" name="product_boundary-text-8"/>
          <p:cNvSpPr/>
          <p:nvPr/>
        </p:nvSpPr>
        <p:spPr>
          <a:xfrm>
            <a:off x="8610600" y="2819400"/>
            <a:ext cx="6273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NutriShield tidak melakukan</a:t>
            </a:r>
            <a:endParaRPr lang="en-US" sz="2400" dirty="0"/>
          </a:p>
        </p:txBody>
      </p:sp>
      <p:sp>
        <p:nvSpPr>
          <p:cNvPr id="10" name="product_boundary-text-9"/>
          <p:cNvSpPr/>
          <p:nvPr/>
        </p:nvSpPr>
        <p:spPr>
          <a:xfrm>
            <a:off x="8610600" y="3581400"/>
            <a:ext cx="62738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Mendiagnosis, memberi terapi, atau menghitung dosis obat.</a:t>
            </a:r>
            <a:endParaRPr lang="en-US" sz="2100" dirty="0"/>
          </a:p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Mengklaim pangan aman saat alergi atau data tidak jelas.</a:t>
            </a:r>
            <a:endParaRPr lang="en-US" sz="2100" dirty="0"/>
          </a:p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Mengubah nilai kosong menjadi nol atau mengarang rekomendasi.</a:t>
            </a:r>
            <a:endParaRPr lang="en-US" sz="2100" dirty="0"/>
          </a:p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Mengirim pesan eksternal tanpa tautan akun dan persetujuan.</a:t>
            </a:r>
            <a:endParaRPr lang="en-US" sz="2100" dirty="0"/>
          </a:p>
          <a:p>
            <a:pPr algn="l" marL="333375" indent="-333375">
              <a:lnSpc>
                <a:spcPts val="2982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21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Menjalankan shell, Python arbitrer, atau akses credential.</a:t>
            </a:r>
            <a:endParaRPr lang="en-US" sz="2100" dirty="0"/>
          </a:p>
        </p:txBody>
      </p:sp>
      <p:sp>
        <p:nvSpPr>
          <p:cNvPr id="11" name="product_boundary-shape-10"/>
          <p:cNvSpPr/>
          <p:nvPr/>
        </p:nvSpPr>
        <p:spPr>
          <a:xfrm>
            <a:off x="762000" y="7772400"/>
            <a:ext cx="13335000" cy="660400"/>
          </a:xfrm>
          <a:prstGeom prst="roundRect">
            <a:avLst>
              <a:gd name="adj" fmla="val 15385"/>
            </a:avLst>
          </a:prstGeom>
          <a:solidFill>
            <a:srgbClr val="FFF4EF"/>
          </a:solidFill>
          <a:ln/>
        </p:spPr>
      </p:sp>
      <p:sp>
        <p:nvSpPr>
          <p:cNvPr id="12" name="product_boundary-text-11"/>
          <p:cNvSpPr/>
          <p:nvPr/>
        </p:nvSpPr>
        <p:spPr>
          <a:xfrm>
            <a:off x="990600" y="7924800"/>
            <a:ext cx="1282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7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Prinsip utama:</a:t>
            </a:r>
            <a:r>
              <a:rPr lang="en-US" altLang="en-US" sz="17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ketika data tidak cukup atau risiko melampaui aturan, sistem menyatakan ketidakpastian dan mengarahkan pengguna pada bantuan manusia.</a:t>
            </a:r>
            <a:endParaRPr lang="en-US" sz="1700" dirty="0"/>
          </a:p>
        </p:txBody>
      </p:sp>
      <p:sp>
        <p:nvSpPr>
          <p:cNvPr id="13" name="product_boundary-text-12"/>
          <p:cNvSpPr/>
          <p:nvPr/>
        </p:nvSpPr>
        <p:spPr>
          <a:xfrm>
            <a:off x="14859000" y="858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ors_journey-shape-1"/>
          <p:cNvSpPr/>
          <p:nvPr/>
        </p:nvSpPr>
        <p:spPr>
          <a:xfrm>
            <a:off x="762000" y="508000"/>
            <a:ext cx="965200" cy="508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actors_journey-text-2"/>
          <p:cNvSpPr/>
          <p:nvPr/>
        </p:nvSpPr>
        <p:spPr>
          <a:xfrm>
            <a:off x="762000" y="863600"/>
            <a:ext cx="1181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Aktor dan perjalanan pengguna</a:t>
            </a:r>
            <a:endParaRPr lang="en-US" sz="3200" dirty="0"/>
          </a:p>
        </p:txBody>
      </p:sp>
      <p:sp>
        <p:nvSpPr>
          <p:cNvPr id="4" name="actors_journey-text-3"/>
          <p:cNvSpPr/>
          <p:nvPr/>
        </p:nvSpPr>
        <p:spPr>
          <a:xfrm>
            <a:off x="762000" y="1600200"/>
            <a:ext cx="1257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Alur dibuat sederhana untuk ibu-ibu dan pengguna awam, tanpa istilah teknis pada permukaan.</a:t>
            </a:r>
            <a:endParaRPr lang="en-US" sz="2000" dirty="0"/>
          </a:p>
        </p:txBody>
      </p:sp>
      <p:sp>
        <p:nvSpPr>
          <p:cNvPr id="5" name="actors_journey-shape-4"/>
          <p:cNvSpPr/>
          <p:nvPr/>
        </p:nvSpPr>
        <p:spPr>
          <a:xfrm>
            <a:off x="762000" y="2336800"/>
            <a:ext cx="3327400" cy="1676400"/>
          </a:xfrm>
          <a:prstGeom prst="roundRect">
            <a:avLst>
              <a:gd name="adj" fmla="val 7576"/>
            </a:avLst>
          </a:prstGeom>
          <a:solidFill>
            <a:srgbClr val="E8F0EB"/>
          </a:solidFill>
          <a:ln/>
        </p:spPr>
      </p:sp>
      <p:pic>
        <p:nvPicPr>
          <p:cNvPr id="6" name="actors_journey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0" y="2616200"/>
            <a:ext cx="381000" cy="381000"/>
          </a:xfrm>
          <a:prstGeom prst="rect">
            <a:avLst/>
          </a:prstGeom>
        </p:spPr>
      </p:pic>
      <p:sp>
        <p:nvSpPr>
          <p:cNvPr id="7" name="actors_journey-text-6"/>
          <p:cNvSpPr/>
          <p:nvPr/>
        </p:nvSpPr>
        <p:spPr>
          <a:xfrm>
            <a:off x="1574800" y="2590800"/>
            <a:ext cx="226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Pengasuh / Keluarga</a:t>
            </a:r>
            <a:endParaRPr lang="en-US" sz="2100" dirty="0"/>
          </a:p>
        </p:txBody>
      </p:sp>
      <p:sp>
        <p:nvSpPr>
          <p:cNvPr id="8" name="actors_journey-text-7"/>
          <p:cNvSpPr/>
          <p:nvPr/>
        </p:nvSpPr>
        <p:spPr>
          <a:xfrm>
            <a:off x="1041400" y="317500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Membuat akun, consent, profil anak, pengukuran, dan pertanyaan.</a:t>
            </a:r>
            <a:endParaRPr lang="en-US" sz="1500" dirty="0"/>
          </a:p>
        </p:txBody>
      </p:sp>
      <p:sp>
        <p:nvSpPr>
          <p:cNvPr id="9" name="actors_journey-shape-8"/>
          <p:cNvSpPr/>
          <p:nvPr/>
        </p:nvSpPr>
        <p:spPr>
          <a:xfrm>
            <a:off x="4470400" y="2336800"/>
            <a:ext cx="3327400" cy="1676400"/>
          </a:xfrm>
          <a:prstGeom prst="roundRect">
            <a:avLst>
              <a:gd name="adj" fmla="val 7576"/>
            </a:avLst>
          </a:prstGeom>
          <a:solidFill>
            <a:srgbClr val="F2EFE9"/>
          </a:solidFill>
          <a:ln/>
        </p:spPr>
      </p:sp>
      <p:pic>
        <p:nvPicPr>
          <p:cNvPr id="10" name="actors_journey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0" y="2616200"/>
            <a:ext cx="381000" cy="381000"/>
          </a:xfrm>
          <a:prstGeom prst="rect">
            <a:avLst/>
          </a:prstGeom>
        </p:spPr>
      </p:pic>
      <p:sp>
        <p:nvSpPr>
          <p:cNvPr id="11" name="actors_journey-text-10"/>
          <p:cNvSpPr/>
          <p:nvPr/>
        </p:nvSpPr>
        <p:spPr>
          <a:xfrm>
            <a:off x="5283200" y="2590800"/>
            <a:ext cx="226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Pengguna Telegram</a:t>
            </a:r>
            <a:endParaRPr lang="en-US" sz="2100" dirty="0"/>
          </a:p>
        </p:txBody>
      </p:sp>
      <p:sp>
        <p:nvSpPr>
          <p:cNvPr id="12" name="actors_journey-text-11"/>
          <p:cNvSpPr/>
          <p:nvPr/>
        </p:nvSpPr>
        <p:spPr>
          <a:xfrm>
            <a:off x="4749800" y="317500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Menautkan akun dengan kode sekali pakai dan melanjutkan percakapan yang sama.</a:t>
            </a:r>
            <a:endParaRPr lang="en-US" sz="1500" dirty="0"/>
          </a:p>
        </p:txBody>
      </p:sp>
      <p:sp>
        <p:nvSpPr>
          <p:cNvPr id="13" name="actors_journey-shape-12"/>
          <p:cNvSpPr/>
          <p:nvPr/>
        </p:nvSpPr>
        <p:spPr>
          <a:xfrm>
            <a:off x="8178800" y="2336800"/>
            <a:ext cx="3327400" cy="1676400"/>
          </a:xfrm>
          <a:prstGeom prst="roundRect">
            <a:avLst>
              <a:gd name="adj" fmla="val 7576"/>
            </a:avLst>
          </a:prstGeom>
          <a:solidFill>
            <a:srgbClr val="F2EFE9"/>
          </a:solidFill>
          <a:ln/>
        </p:spPr>
      </p:sp>
      <p:pic>
        <p:nvPicPr>
          <p:cNvPr id="14" name="actors_journey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616200"/>
            <a:ext cx="381000" cy="381000"/>
          </a:xfrm>
          <a:prstGeom prst="rect">
            <a:avLst/>
          </a:prstGeom>
        </p:spPr>
      </p:pic>
      <p:sp>
        <p:nvSpPr>
          <p:cNvPr id="15" name="actors_journey-text-14"/>
          <p:cNvSpPr/>
          <p:nvPr/>
        </p:nvSpPr>
        <p:spPr>
          <a:xfrm>
            <a:off x="8991600" y="2590800"/>
            <a:ext cx="226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Operator Sandbox</a:t>
            </a:r>
            <a:endParaRPr lang="en-US" sz="2100" dirty="0"/>
          </a:p>
        </p:txBody>
      </p:sp>
      <p:sp>
        <p:nvSpPr>
          <p:cNvPr id="16" name="actors_journey-text-15"/>
          <p:cNvSpPr/>
          <p:nvPr/>
        </p:nvSpPr>
        <p:spPr>
          <a:xfrm>
            <a:off x="8458200" y="317500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Menjalankan import, worker, scheduler, health check, dan inspeksi runtime.</a:t>
            </a:r>
            <a:endParaRPr lang="en-US" sz="1500" dirty="0"/>
          </a:p>
        </p:txBody>
      </p:sp>
      <p:sp>
        <p:nvSpPr>
          <p:cNvPr id="17" name="actors_journey-shape-16"/>
          <p:cNvSpPr/>
          <p:nvPr/>
        </p:nvSpPr>
        <p:spPr>
          <a:xfrm>
            <a:off x="11887200" y="2336800"/>
            <a:ext cx="3327400" cy="1676400"/>
          </a:xfrm>
          <a:prstGeom prst="roundRect">
            <a:avLst>
              <a:gd name="adj" fmla="val 7576"/>
            </a:avLst>
          </a:prstGeom>
          <a:solidFill>
            <a:srgbClr val="F2EFE9"/>
          </a:solidFill>
          <a:ln/>
        </p:spPr>
      </p:sp>
      <p:pic>
        <p:nvPicPr>
          <p:cNvPr id="18" name="actors_journey-icon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6600" y="2616200"/>
            <a:ext cx="381000" cy="381000"/>
          </a:xfrm>
          <a:prstGeom prst="rect">
            <a:avLst/>
          </a:prstGeom>
        </p:spPr>
      </p:pic>
      <p:sp>
        <p:nvSpPr>
          <p:cNvPr id="19" name="actors_journey-text-18"/>
          <p:cNvSpPr/>
          <p:nvPr/>
        </p:nvSpPr>
        <p:spPr>
          <a:xfrm>
            <a:off x="12700000" y="2590800"/>
            <a:ext cx="2260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Reviewer Keselamatan</a:t>
            </a:r>
            <a:endParaRPr lang="en-US" sz="2100" dirty="0"/>
          </a:p>
        </p:txBody>
      </p:sp>
      <p:sp>
        <p:nvSpPr>
          <p:cNvPr id="20" name="actors_journey-text-19"/>
          <p:cNvSpPr/>
          <p:nvPr/>
        </p:nvSpPr>
        <p:spPr>
          <a:xfrm>
            <a:off x="12166600" y="317500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Menilai output, safety stop, provenance, dan acceptance sebelum pilot.</a:t>
            </a:r>
            <a:endParaRPr lang="en-US" sz="1500" dirty="0"/>
          </a:p>
        </p:txBody>
      </p:sp>
      <p:sp>
        <p:nvSpPr>
          <p:cNvPr id="21" name="actors_journey-text-20"/>
          <p:cNvSpPr/>
          <p:nvPr/>
        </p:nvSpPr>
        <p:spPr>
          <a:xfrm>
            <a:off x="762000" y="4572000"/>
            <a:ext cx="1168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4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Perjalanan utama</a:t>
            </a:r>
            <a:endParaRPr lang="en-US" sz="2400" dirty="0"/>
          </a:p>
        </p:txBody>
      </p:sp>
      <p:sp>
        <p:nvSpPr>
          <p:cNvPr id="22" name="actors_journey-shape-21"/>
          <p:cNvSpPr/>
          <p:nvPr/>
        </p:nvSpPr>
        <p:spPr>
          <a:xfrm>
            <a:off x="762000" y="5461000"/>
            <a:ext cx="2819400" cy="1473200"/>
          </a:xfrm>
          <a:prstGeom prst="chevron">
            <a:avLst>
              <a:gd name="adj" fmla="val 18000"/>
            </a:avLst>
          </a:prstGeom>
          <a:solidFill>
            <a:srgbClr val="E8F0EB"/>
          </a:solidFill>
          <a:ln/>
        </p:spPr>
      </p:sp>
      <p:sp>
        <p:nvSpPr>
          <p:cNvPr id="23" name="actors_journey-text-22"/>
          <p:cNvSpPr/>
          <p:nvPr/>
        </p:nvSpPr>
        <p:spPr>
          <a:xfrm>
            <a:off x="1016000" y="5740400"/>
            <a:ext cx="218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Daftar &amp; setuju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pemrosesan dijelaskan</a:t>
            </a:r>
            <a:endParaRPr lang="en-US" sz="1800" dirty="0"/>
          </a:p>
        </p:txBody>
      </p:sp>
      <p:sp>
        <p:nvSpPr>
          <p:cNvPr id="24" name="actors_journey-shape-23"/>
          <p:cNvSpPr/>
          <p:nvPr/>
        </p:nvSpPr>
        <p:spPr>
          <a:xfrm>
            <a:off x="3581400" y="5461000"/>
            <a:ext cx="2819400" cy="1473200"/>
          </a:xfrm>
          <a:prstGeom prst="chevron">
            <a:avLst>
              <a:gd name="adj" fmla="val 18000"/>
            </a:avLst>
          </a:prstGeom>
          <a:solidFill>
            <a:srgbClr val="F2EFE9"/>
          </a:solidFill>
          <a:ln/>
        </p:spPr>
      </p:sp>
      <p:sp>
        <p:nvSpPr>
          <p:cNvPr id="25" name="actors_journey-text-24"/>
          <p:cNvSpPr/>
          <p:nvPr/>
        </p:nvSpPr>
        <p:spPr>
          <a:xfrm>
            <a:off x="3835400" y="5740400"/>
            <a:ext cx="218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Buat profil anak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Onboarding agent berjalan</a:t>
            </a:r>
            <a:endParaRPr lang="en-US" sz="1800" dirty="0"/>
          </a:p>
        </p:txBody>
      </p:sp>
      <p:sp>
        <p:nvSpPr>
          <p:cNvPr id="26" name="actors_journey-shape-25"/>
          <p:cNvSpPr/>
          <p:nvPr/>
        </p:nvSpPr>
        <p:spPr>
          <a:xfrm>
            <a:off x="6400800" y="5461000"/>
            <a:ext cx="2819400" cy="1473200"/>
          </a:xfrm>
          <a:prstGeom prst="chevron">
            <a:avLst>
              <a:gd name="adj" fmla="val 18000"/>
            </a:avLst>
          </a:prstGeom>
          <a:solidFill>
            <a:srgbClr val="E8F0EB"/>
          </a:solidFill>
          <a:ln/>
        </p:spPr>
      </p:sp>
      <p:sp>
        <p:nvSpPr>
          <p:cNvPr id="27" name="actors_journey-text-26"/>
          <p:cNvSpPr/>
          <p:nvPr/>
        </p:nvSpPr>
        <p:spPr>
          <a:xfrm>
            <a:off x="6654800" y="5740400"/>
            <a:ext cx="218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Catat ukuran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Follow-up tercatat otomatis</a:t>
            </a:r>
            <a:endParaRPr lang="en-US" sz="1800" dirty="0"/>
          </a:p>
        </p:txBody>
      </p:sp>
      <p:sp>
        <p:nvSpPr>
          <p:cNvPr id="28" name="actors_journey-shape-27"/>
          <p:cNvSpPr/>
          <p:nvPr/>
        </p:nvSpPr>
        <p:spPr>
          <a:xfrm>
            <a:off x="9220200" y="5461000"/>
            <a:ext cx="2819400" cy="1473200"/>
          </a:xfrm>
          <a:prstGeom prst="chevron">
            <a:avLst>
              <a:gd name="adj" fmla="val 18000"/>
            </a:avLst>
          </a:prstGeom>
          <a:solidFill>
            <a:srgbClr val="F2EFE9"/>
          </a:solidFill>
          <a:ln/>
        </p:spPr>
      </p:sp>
      <p:sp>
        <p:nvSpPr>
          <p:cNvPr id="29" name="actors_journey-text-28"/>
          <p:cNvSpPr/>
          <p:nvPr/>
        </p:nvSpPr>
        <p:spPr>
          <a:xfrm>
            <a:off x="9474200" y="5740400"/>
            <a:ext cx="218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Tanya pendamping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Policy → evidence → guard</a:t>
            </a:r>
            <a:endParaRPr lang="en-US" sz="1800" dirty="0"/>
          </a:p>
        </p:txBody>
      </p:sp>
      <p:sp>
        <p:nvSpPr>
          <p:cNvPr id="30" name="actors_journey-shape-29"/>
          <p:cNvSpPr/>
          <p:nvPr/>
        </p:nvSpPr>
        <p:spPr>
          <a:xfrm>
            <a:off x="12039600" y="5461000"/>
            <a:ext cx="2819400" cy="1473200"/>
          </a:xfrm>
          <a:prstGeom prst="chevron">
            <a:avLst>
              <a:gd name="adj" fmla="val 18000"/>
            </a:avLst>
          </a:prstGeom>
          <a:solidFill>
            <a:srgbClr val="E8F0EB"/>
          </a:solidFill>
          <a:ln/>
        </p:spPr>
      </p:sp>
      <p:sp>
        <p:nvSpPr>
          <p:cNvPr id="31" name="actors_journey-text-30"/>
          <p:cNvSpPr/>
          <p:nvPr/>
        </p:nvSpPr>
        <p:spPr>
          <a:xfrm>
            <a:off x="12293600" y="5740400"/>
            <a:ext cx="218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5. Lanjut via Telegram</a:t>
            </a:r>
            <a:endParaRPr lang="en-US" sz="1800" dirty="0"/>
          </a:p>
          <a:p>
            <a:pPr algn="ct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Setelah link dan consent</a:t>
            </a:r>
            <a:endParaRPr lang="en-US" sz="1800" dirty="0"/>
          </a:p>
        </p:txBody>
      </p:sp>
      <p:sp>
        <p:nvSpPr>
          <p:cNvPr id="32" name="actors_journey-text-31"/>
          <p:cNvSpPr/>
          <p:nvPr/>
        </p:nvSpPr>
        <p:spPr>
          <a:xfrm>
            <a:off x="762000" y="7620000"/>
            <a:ext cx="1333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Catatan: alur web dan Telegram menggunakan pipeline yang sama; kanal tidak boleh memiliki logika keselamatan yang berbeda dari system of record web.</a:t>
            </a:r>
            <a:endParaRPr lang="en-US" sz="1500" dirty="0"/>
          </a:p>
        </p:txBody>
      </p:sp>
      <p:sp>
        <p:nvSpPr>
          <p:cNvPr id="33" name="actors_journey-text-32"/>
          <p:cNvSpPr/>
          <p:nvPr/>
        </p:nvSpPr>
        <p:spPr>
          <a:xfrm>
            <a:off x="14859000" y="858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se_case_map-shape-1"/>
          <p:cNvSpPr/>
          <p:nvPr/>
        </p:nvSpPr>
        <p:spPr>
          <a:xfrm>
            <a:off x="762000" y="508000"/>
            <a:ext cx="965200" cy="508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use_case_map-text-2"/>
          <p:cNvSpPr/>
          <p:nvPr/>
        </p:nvSpPr>
        <p:spPr>
          <a:xfrm>
            <a:off x="762000" y="863600"/>
            <a:ext cx="1181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diagram lengkap</a:t>
            </a:r>
            <a:endParaRPr lang="en-US" sz="3200" dirty="0"/>
          </a:p>
        </p:txBody>
      </p:sp>
      <p:sp>
        <p:nvSpPr>
          <p:cNvPr id="4" name="use_case_map-text-3"/>
          <p:cNvSpPr/>
          <p:nvPr/>
        </p:nvSpPr>
        <p:spPr>
          <a:xfrm>
            <a:off x="762000" y="1600200"/>
            <a:ext cx="1257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Peta use case membatasi aktor, domain, dan tanggung jawab; diagram source/PNG juga disediakan sebagai file terpisah.</a:t>
            </a:r>
            <a:endParaRPr lang="en-US" sz="2000" dirty="0"/>
          </a:p>
        </p:txBody>
      </p:sp>
      <p:sp>
        <p:nvSpPr>
          <p:cNvPr id="5" name="use_case_map-shape-4"/>
          <p:cNvSpPr/>
          <p:nvPr/>
        </p:nvSpPr>
        <p:spPr>
          <a:xfrm>
            <a:off x="762000" y="2260600"/>
            <a:ext cx="2794000" cy="5334000"/>
          </a:xfrm>
          <a:prstGeom prst="roundRect">
            <a:avLst>
              <a:gd name="adj" fmla="val 4545"/>
            </a:avLst>
          </a:prstGeom>
          <a:solidFill>
            <a:srgbClr val="E8F0EB"/>
          </a:solidFill>
          <a:ln/>
        </p:spPr>
      </p:sp>
      <p:pic>
        <p:nvPicPr>
          <p:cNvPr id="6" name="use_case_map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400" y="2565400"/>
            <a:ext cx="355600" cy="355600"/>
          </a:xfrm>
          <a:prstGeom prst="rect">
            <a:avLst/>
          </a:prstGeom>
        </p:spPr>
      </p:pic>
      <p:sp>
        <p:nvSpPr>
          <p:cNvPr id="7" name="use_case_map-text-6"/>
          <p:cNvSpPr/>
          <p:nvPr/>
        </p:nvSpPr>
        <p:spPr>
          <a:xfrm>
            <a:off x="1549400" y="2527300"/>
            <a:ext cx="17272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Aktor utama</a:t>
            </a:r>
            <a:endParaRPr lang="en-US" sz="2000" dirty="0"/>
          </a:p>
        </p:txBody>
      </p:sp>
      <p:sp>
        <p:nvSpPr>
          <p:cNvPr id="8" name="use_case_map-text-7"/>
          <p:cNvSpPr/>
          <p:nvPr/>
        </p:nvSpPr>
        <p:spPr>
          <a:xfrm>
            <a:off x="1041400" y="3200400"/>
            <a:ext cx="22098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38125" indent="-238125">
              <a:lnSpc>
                <a:spcPts val="23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Pengasuh / keluarga</a:t>
            </a:r>
            <a:endParaRPr lang="en-US" sz="1500" dirty="0"/>
          </a:p>
          <a:p>
            <a:pPr algn="l" marL="238125" indent="-238125">
              <a:lnSpc>
                <a:spcPts val="23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Pengguna Telegram</a:t>
            </a:r>
            <a:endParaRPr lang="en-US" sz="1500" dirty="0"/>
          </a:p>
          <a:p>
            <a:pPr algn="l" marL="238125" indent="-238125">
              <a:lnSpc>
                <a:spcPts val="23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Operator sandbox</a:t>
            </a:r>
            <a:endParaRPr lang="en-US" sz="1500" dirty="0"/>
          </a:p>
          <a:p>
            <a:pPr algn="l" marL="238125" indent="-238125">
              <a:lnSpc>
                <a:spcPts val="23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Reviewer keselamatan</a:t>
            </a:r>
            <a:endParaRPr lang="en-US" sz="1500" dirty="0"/>
          </a:p>
          <a:p>
            <a:pPr algn="l" marL="238125" indent="-238125">
              <a:lnSpc>
                <a:spcPts val="23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Sumber data pangan</a:t>
            </a:r>
            <a:endParaRPr lang="en-US" sz="1500" dirty="0"/>
          </a:p>
          <a:p>
            <a:pPr algn="l" marL="238125" indent="-238125">
              <a:lnSpc>
                <a:spcPts val="23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OpenAI-compatible LLM</a:t>
            </a:r>
            <a:endParaRPr lang="en-US" sz="1500" dirty="0"/>
          </a:p>
          <a:p>
            <a:pPr algn="l" marL="238125" indent="-238125">
              <a:lnSpc>
                <a:spcPts val="23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Telegram API</a:t>
            </a:r>
            <a:endParaRPr lang="en-US" sz="1500" dirty="0"/>
          </a:p>
        </p:txBody>
      </p:sp>
      <p:sp>
        <p:nvSpPr>
          <p:cNvPr id="9" name="use_case_map-shape-8"/>
          <p:cNvSpPr/>
          <p:nvPr/>
        </p:nvSpPr>
        <p:spPr>
          <a:xfrm>
            <a:off x="3937000" y="2260600"/>
            <a:ext cx="5143500" cy="53340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3D9D5"/>
            </a:solidFill>
            <a:prstDash val="solid"/>
          </a:ln>
        </p:spPr>
      </p:sp>
      <p:sp>
        <p:nvSpPr>
          <p:cNvPr id="10" name="use_case_map-text-9"/>
          <p:cNvSpPr/>
          <p:nvPr/>
        </p:nvSpPr>
        <p:spPr>
          <a:xfrm>
            <a:off x="4216400" y="2565400"/>
            <a:ext cx="431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Identitas &amp; Catatan Keluarga</a:t>
            </a:r>
            <a:endParaRPr lang="en-US" sz="2100" dirty="0"/>
          </a:p>
        </p:txBody>
      </p:sp>
      <p:sp>
        <p:nvSpPr>
          <p:cNvPr id="11" name="use_case_map-text-10"/>
          <p:cNvSpPr/>
          <p:nvPr/>
        </p:nvSpPr>
        <p:spPr>
          <a:xfrm>
            <a:off x="4216400" y="3175000"/>
            <a:ext cx="4318000" cy="408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Registrasi + consent pemrosesan data</a:t>
            </a:r>
            <a:endParaRPr lang="en-US" sz="1500" dirty="0"/>
          </a:p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Login, logout, session opaque, kepemilikan data</a:t>
            </a:r>
            <a:endParaRPr lang="en-US" sz="1500" dirty="0"/>
          </a:p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Profil anak dan catatan pengukuran</a:t>
            </a:r>
            <a:endParaRPr lang="en-US" sz="1500" dirty="0"/>
          </a:p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Dashboard, riwayat agent, jejak 8 tahap</a:t>
            </a:r>
            <a:endParaRPr lang="en-US" sz="1500" dirty="0"/>
          </a:p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Memutus tautan kanal dan mencabut consent</a:t>
            </a:r>
            <a:endParaRPr lang="en-US" sz="1500" dirty="0"/>
          </a:p>
        </p:txBody>
      </p:sp>
      <p:sp>
        <p:nvSpPr>
          <p:cNvPr id="12" name="use_case_map-shape-11"/>
          <p:cNvSpPr/>
          <p:nvPr/>
        </p:nvSpPr>
        <p:spPr>
          <a:xfrm>
            <a:off x="9461500" y="2260600"/>
            <a:ext cx="5143500" cy="53340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3D9D5"/>
            </a:solidFill>
            <a:prstDash val="solid"/>
          </a:ln>
        </p:spPr>
      </p:sp>
      <p:sp>
        <p:nvSpPr>
          <p:cNvPr id="13" name="use_case_map-text-12"/>
          <p:cNvSpPr/>
          <p:nvPr/>
        </p:nvSpPr>
        <p:spPr>
          <a:xfrm>
            <a:off x="9740900" y="2565400"/>
            <a:ext cx="431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Agent, Data Pangan &amp; Telegram</a:t>
            </a:r>
            <a:endParaRPr lang="en-US" sz="2100" dirty="0"/>
          </a:p>
        </p:txBody>
      </p:sp>
      <p:sp>
        <p:nvSpPr>
          <p:cNvPr id="14" name="use_case_map-text-13"/>
          <p:cNvSpPr/>
          <p:nvPr/>
        </p:nvSpPr>
        <p:spPr>
          <a:xfrm>
            <a:off x="9740900" y="3175000"/>
            <a:ext cx="4318000" cy="408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Pertanyaan memakai observer, quality, safety, retrieval, planner, explainer, guard, recorder</a:t>
            </a:r>
            <a:endParaRPr lang="en-US" sz="1500" dirty="0"/>
          </a:p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Pencarian pangan + provenance + eligibility</a:t>
            </a:r>
            <a:endParaRPr lang="en-US" sz="1500" dirty="0"/>
          </a:p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Import raw → normalize → quarantine → eligibility → report</a:t>
            </a:r>
            <a:endParaRPr lang="en-US" sz="1500" dirty="0"/>
          </a:p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Link code, webhook, delivery state, unlink</a:t>
            </a:r>
            <a:endParaRPr lang="en-US" sz="1500" dirty="0"/>
          </a:p>
          <a:p>
            <a:pPr algn="l" marL="238125" indent="-238125">
              <a:lnSpc>
                <a:spcPts val="2220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Health check, worker, scheduler sandbox, review audit</a:t>
            </a:r>
            <a:endParaRPr lang="en-US" sz="1500" dirty="0"/>
          </a:p>
        </p:txBody>
      </p:sp>
      <p:sp>
        <p:nvSpPr>
          <p:cNvPr id="15" name="use_case_map-shape-14"/>
          <p:cNvSpPr/>
          <p:nvPr/>
        </p:nvSpPr>
        <p:spPr>
          <a:xfrm>
            <a:off x="3937000" y="7772400"/>
            <a:ext cx="10668000" cy="584200"/>
          </a:xfrm>
          <a:prstGeom prst="roundRect">
            <a:avLst>
              <a:gd name="adj" fmla="val 17391"/>
            </a:avLst>
          </a:prstGeom>
          <a:solidFill>
            <a:srgbClr val="FFF4EF"/>
          </a:solidFill>
          <a:ln/>
        </p:spPr>
      </p:sp>
      <p:sp>
        <p:nvSpPr>
          <p:cNvPr id="16" name="use_case_map-text-15"/>
          <p:cNvSpPr/>
          <p:nvPr/>
        </p:nvSpPr>
        <p:spPr>
          <a:xfrm>
            <a:off x="4191000" y="7899400"/>
            <a:ext cx="1016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Batas kritis:</a:t>
            </a:r>
            <a:r>
              <a:rPr lang="en-US" altLang="en-US" sz="15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safety stop dapat menghentikan pipeline sebelum LLM; Telegram live tetap opsional sampai token baru, webhook HTTPS, dan consent tersedia.</a:t>
            </a:r>
            <a:endParaRPr lang="en-US" sz="1500" dirty="0"/>
          </a:p>
        </p:txBody>
      </p:sp>
      <p:sp>
        <p:nvSpPr>
          <p:cNvPr id="17" name="use_case_map-text-16"/>
          <p:cNvSpPr/>
          <p:nvPr/>
        </p:nvSpPr>
        <p:spPr>
          <a:xfrm>
            <a:off x="14859000" y="858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t_lifecycle-shape-1"/>
          <p:cNvSpPr/>
          <p:nvPr/>
        </p:nvSpPr>
        <p:spPr>
          <a:xfrm>
            <a:off x="762000" y="508000"/>
            <a:ext cx="965200" cy="508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agent_lifecycle-text-2"/>
          <p:cNvSpPr/>
          <p:nvPr/>
        </p:nvSpPr>
        <p:spPr>
          <a:xfrm>
            <a:off x="762000" y="863600"/>
            <a:ext cx="1181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Agentic AI: 8 tahap yang dapat diaudit</a:t>
            </a:r>
            <a:endParaRPr lang="en-US" sz="3200" dirty="0"/>
          </a:p>
        </p:txBody>
      </p:sp>
      <p:sp>
        <p:nvSpPr>
          <p:cNvPr id="4" name="agent_lifecycle-text-3"/>
          <p:cNvSpPr/>
          <p:nvPr/>
        </p:nvSpPr>
        <p:spPr>
          <a:xfrm>
            <a:off x="762000" y="1600200"/>
            <a:ext cx="1257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Setiap pertanyaan, profil anak, dan pengukuran memakai pipeline yang sama; hasil dan langkah tersimpan sebagai trace nyata.</a:t>
            </a:r>
            <a:endParaRPr lang="en-US" sz="2000" dirty="0"/>
          </a:p>
        </p:txBody>
      </p:sp>
      <p:sp>
        <p:nvSpPr>
          <p:cNvPr id="5" name="agent_lifecycle-shape-4"/>
          <p:cNvSpPr/>
          <p:nvPr/>
        </p:nvSpPr>
        <p:spPr>
          <a:xfrm>
            <a:off x="762000" y="2260600"/>
            <a:ext cx="3213100" cy="1879600"/>
          </a:xfrm>
          <a:prstGeom prst="roundRect">
            <a:avLst>
              <a:gd name="adj" fmla="val 6757"/>
            </a:avLst>
          </a:prstGeom>
          <a:solidFill>
            <a:srgbClr val="E8F0EB"/>
          </a:solidFill>
          <a:ln/>
        </p:spPr>
      </p:sp>
      <p:sp>
        <p:nvSpPr>
          <p:cNvPr id="6" name="agent_lifecycle-text-5"/>
          <p:cNvSpPr/>
          <p:nvPr/>
        </p:nvSpPr>
        <p:spPr>
          <a:xfrm>
            <a:off x="1016000" y="2514600"/>
            <a:ext cx="533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agent_lifecycle-text-6"/>
          <p:cNvSpPr/>
          <p:nvPr/>
        </p:nvSpPr>
        <p:spPr>
          <a:xfrm>
            <a:off x="1016000" y="2997200"/>
            <a:ext cx="2692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Observer</a:t>
            </a:r>
            <a:endParaRPr lang="en-US" sz="2000" dirty="0"/>
          </a:p>
        </p:txBody>
      </p:sp>
      <p:sp>
        <p:nvSpPr>
          <p:cNvPr id="8" name="agent_lifecycle-text-7"/>
          <p:cNvSpPr/>
          <p:nvPr/>
        </p:nvSpPr>
        <p:spPr>
          <a:xfrm>
            <a:off x="1016000" y="3479800"/>
            <a:ext cx="269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Memuat profil, pengukuran, consent, dan aktivitas yang berwenang.</a:t>
            </a:r>
            <a:endParaRPr lang="en-US" sz="1400" dirty="0"/>
          </a:p>
        </p:txBody>
      </p:sp>
      <p:sp>
        <p:nvSpPr>
          <p:cNvPr id="9" name="agent_lifecycle-shape-8"/>
          <p:cNvSpPr/>
          <p:nvPr/>
        </p:nvSpPr>
        <p:spPr>
          <a:xfrm>
            <a:off x="4229100" y="2260600"/>
            <a:ext cx="3213100" cy="1879600"/>
          </a:xfrm>
          <a:prstGeom prst="roundRect">
            <a:avLst>
              <a:gd name="adj" fmla="val 6757"/>
            </a:avLst>
          </a:prstGeom>
          <a:solidFill>
            <a:srgbClr val="F2EFE9"/>
          </a:solidFill>
          <a:ln/>
        </p:spPr>
      </p:sp>
      <p:sp>
        <p:nvSpPr>
          <p:cNvPr id="10" name="agent_lifecycle-text-9"/>
          <p:cNvSpPr/>
          <p:nvPr/>
        </p:nvSpPr>
        <p:spPr>
          <a:xfrm>
            <a:off x="4483100" y="2514600"/>
            <a:ext cx="533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agent_lifecycle-text-10"/>
          <p:cNvSpPr/>
          <p:nvPr/>
        </p:nvSpPr>
        <p:spPr>
          <a:xfrm>
            <a:off x="4483100" y="2997200"/>
            <a:ext cx="2692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Quality</a:t>
            </a:r>
            <a:endParaRPr lang="en-US" sz="2000" dirty="0"/>
          </a:p>
        </p:txBody>
      </p:sp>
      <p:sp>
        <p:nvSpPr>
          <p:cNvPr id="12" name="agent_lifecycle-text-11"/>
          <p:cNvSpPr/>
          <p:nvPr/>
        </p:nvSpPr>
        <p:spPr>
          <a:xfrm>
            <a:off x="4483100" y="3479800"/>
            <a:ext cx="269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Memeriksa nilai kosong, umur, duplikasi, dan kelengkapan.</a:t>
            </a:r>
            <a:endParaRPr lang="en-US" sz="1400" dirty="0"/>
          </a:p>
        </p:txBody>
      </p:sp>
      <p:sp>
        <p:nvSpPr>
          <p:cNvPr id="13" name="agent_lifecycle-shape-12"/>
          <p:cNvSpPr/>
          <p:nvPr/>
        </p:nvSpPr>
        <p:spPr>
          <a:xfrm>
            <a:off x="7696200" y="2260600"/>
            <a:ext cx="3213100" cy="1879600"/>
          </a:xfrm>
          <a:prstGeom prst="roundRect">
            <a:avLst>
              <a:gd name="adj" fmla="val 6757"/>
            </a:avLst>
          </a:prstGeom>
          <a:solidFill>
            <a:srgbClr val="FFF4EF"/>
          </a:solidFill>
          <a:ln/>
        </p:spPr>
      </p:sp>
      <p:sp>
        <p:nvSpPr>
          <p:cNvPr id="14" name="agent_lifecycle-text-13"/>
          <p:cNvSpPr/>
          <p:nvPr/>
        </p:nvSpPr>
        <p:spPr>
          <a:xfrm>
            <a:off x="7950200" y="2514600"/>
            <a:ext cx="533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agent_lifecycle-text-14"/>
          <p:cNvSpPr/>
          <p:nvPr/>
        </p:nvSpPr>
        <p:spPr>
          <a:xfrm>
            <a:off x="7950200" y="2997200"/>
            <a:ext cx="2692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Safety Policy</a:t>
            </a:r>
            <a:endParaRPr lang="en-US" sz="2000" dirty="0"/>
          </a:p>
        </p:txBody>
      </p:sp>
      <p:sp>
        <p:nvSpPr>
          <p:cNvPr id="16" name="agent_lifecycle-text-15"/>
          <p:cNvSpPr/>
          <p:nvPr/>
        </p:nvSpPr>
        <p:spPr>
          <a:xfrm>
            <a:off x="7950200" y="3479800"/>
            <a:ext cx="269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Stop untuk tanda bahaya, dosis obat, alergi kompleks, dan data tidak jelas.</a:t>
            </a:r>
            <a:endParaRPr lang="en-US" sz="1400" dirty="0"/>
          </a:p>
        </p:txBody>
      </p:sp>
      <p:sp>
        <p:nvSpPr>
          <p:cNvPr id="17" name="agent_lifecycle-shape-16"/>
          <p:cNvSpPr/>
          <p:nvPr/>
        </p:nvSpPr>
        <p:spPr>
          <a:xfrm>
            <a:off x="11163300" y="2260600"/>
            <a:ext cx="3213100" cy="1879600"/>
          </a:xfrm>
          <a:prstGeom prst="roundRect">
            <a:avLst>
              <a:gd name="adj" fmla="val 6757"/>
            </a:avLst>
          </a:prstGeom>
          <a:solidFill>
            <a:srgbClr val="F2EFE9"/>
          </a:solidFill>
          <a:ln/>
        </p:spPr>
      </p:sp>
      <p:sp>
        <p:nvSpPr>
          <p:cNvPr id="18" name="agent_lifecycle-text-17"/>
          <p:cNvSpPr/>
          <p:nvPr/>
        </p:nvSpPr>
        <p:spPr>
          <a:xfrm>
            <a:off x="11417300" y="2514600"/>
            <a:ext cx="533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agent_lifecycle-text-18"/>
          <p:cNvSpPr/>
          <p:nvPr/>
        </p:nvSpPr>
        <p:spPr>
          <a:xfrm>
            <a:off x="11417300" y="2997200"/>
            <a:ext cx="2692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Food Retriever</a:t>
            </a:r>
            <a:endParaRPr lang="en-US" sz="2000" dirty="0"/>
          </a:p>
        </p:txBody>
      </p:sp>
      <p:sp>
        <p:nvSpPr>
          <p:cNvPr id="20" name="agent_lifecycle-text-19"/>
          <p:cNvSpPr/>
          <p:nvPr/>
        </p:nvSpPr>
        <p:spPr>
          <a:xfrm>
            <a:off x="11417300" y="3479800"/>
            <a:ext cx="269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Mencari canonical food sesuai eligibility dan provenance.</a:t>
            </a:r>
            <a:endParaRPr lang="en-US" sz="1400" dirty="0"/>
          </a:p>
        </p:txBody>
      </p:sp>
      <p:sp>
        <p:nvSpPr>
          <p:cNvPr id="21" name="agent_lifecycle-shape-20"/>
          <p:cNvSpPr/>
          <p:nvPr/>
        </p:nvSpPr>
        <p:spPr>
          <a:xfrm>
            <a:off x="762000" y="4521200"/>
            <a:ext cx="3213100" cy="1879600"/>
          </a:xfrm>
          <a:prstGeom prst="roundRect">
            <a:avLst>
              <a:gd name="adj" fmla="val 6757"/>
            </a:avLst>
          </a:prstGeom>
          <a:solidFill>
            <a:srgbClr val="F2EFE9"/>
          </a:solidFill>
          <a:ln/>
        </p:spPr>
      </p:sp>
      <p:sp>
        <p:nvSpPr>
          <p:cNvPr id="22" name="agent_lifecycle-text-21"/>
          <p:cNvSpPr/>
          <p:nvPr/>
        </p:nvSpPr>
        <p:spPr>
          <a:xfrm>
            <a:off x="1016000" y="4775200"/>
            <a:ext cx="533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agent_lifecycle-text-22"/>
          <p:cNvSpPr/>
          <p:nvPr/>
        </p:nvSpPr>
        <p:spPr>
          <a:xfrm>
            <a:off x="1016000" y="5257800"/>
            <a:ext cx="2692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Planner</a:t>
            </a:r>
            <a:endParaRPr lang="en-US" sz="2000" dirty="0"/>
          </a:p>
        </p:txBody>
      </p:sp>
      <p:sp>
        <p:nvSpPr>
          <p:cNvPr id="24" name="agent_lifecycle-text-23"/>
          <p:cNvSpPr/>
          <p:nvPr/>
        </p:nvSpPr>
        <p:spPr>
          <a:xfrm>
            <a:off x="1016000" y="5740400"/>
            <a:ext cx="269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Memilih aksi allow-list; tanpa shell atau kode arbitrer.</a:t>
            </a:r>
            <a:endParaRPr lang="en-US" sz="1400" dirty="0"/>
          </a:p>
        </p:txBody>
      </p:sp>
      <p:sp>
        <p:nvSpPr>
          <p:cNvPr id="25" name="agent_lifecycle-shape-24"/>
          <p:cNvSpPr/>
          <p:nvPr/>
        </p:nvSpPr>
        <p:spPr>
          <a:xfrm>
            <a:off x="4229100" y="4521200"/>
            <a:ext cx="3213100" cy="1879600"/>
          </a:xfrm>
          <a:prstGeom prst="roundRect">
            <a:avLst>
              <a:gd name="adj" fmla="val 6757"/>
            </a:avLst>
          </a:prstGeom>
          <a:solidFill>
            <a:srgbClr val="E8F0EB"/>
          </a:solidFill>
          <a:ln/>
        </p:spPr>
      </p:sp>
      <p:sp>
        <p:nvSpPr>
          <p:cNvPr id="26" name="agent_lifecycle-text-25"/>
          <p:cNvSpPr/>
          <p:nvPr/>
        </p:nvSpPr>
        <p:spPr>
          <a:xfrm>
            <a:off x="4483100" y="4775200"/>
            <a:ext cx="533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2200" dirty="0"/>
          </a:p>
        </p:txBody>
      </p:sp>
      <p:sp>
        <p:nvSpPr>
          <p:cNvPr id="27" name="agent_lifecycle-text-26"/>
          <p:cNvSpPr/>
          <p:nvPr/>
        </p:nvSpPr>
        <p:spPr>
          <a:xfrm>
            <a:off x="4483100" y="5257800"/>
            <a:ext cx="2692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Family Explainer</a:t>
            </a:r>
            <a:endParaRPr lang="en-US" sz="2000" dirty="0"/>
          </a:p>
        </p:txBody>
      </p:sp>
      <p:sp>
        <p:nvSpPr>
          <p:cNvPr id="28" name="agent_lifecycle-text-27"/>
          <p:cNvSpPr/>
          <p:nvPr/>
        </p:nvSpPr>
        <p:spPr>
          <a:xfrm>
            <a:off x="4483100" y="5740400"/>
            <a:ext cx="269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Opsional memakai gpt-5-mini untuk menjelaskan hasil yang sudah lolos.</a:t>
            </a:r>
            <a:endParaRPr lang="en-US" sz="1400" dirty="0"/>
          </a:p>
        </p:txBody>
      </p:sp>
      <p:sp>
        <p:nvSpPr>
          <p:cNvPr id="29" name="agent_lifecycle-shape-28"/>
          <p:cNvSpPr/>
          <p:nvPr/>
        </p:nvSpPr>
        <p:spPr>
          <a:xfrm>
            <a:off x="7696200" y="4521200"/>
            <a:ext cx="3213100" cy="1879600"/>
          </a:xfrm>
          <a:prstGeom prst="roundRect">
            <a:avLst>
              <a:gd name="adj" fmla="val 6757"/>
            </a:avLst>
          </a:prstGeom>
          <a:solidFill>
            <a:srgbClr val="FFF4EF"/>
          </a:solidFill>
          <a:ln/>
        </p:spPr>
      </p:sp>
      <p:sp>
        <p:nvSpPr>
          <p:cNvPr id="30" name="agent_lifecycle-text-29"/>
          <p:cNvSpPr/>
          <p:nvPr/>
        </p:nvSpPr>
        <p:spPr>
          <a:xfrm>
            <a:off x="7950200" y="4775200"/>
            <a:ext cx="533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2200" dirty="0"/>
          </a:p>
        </p:txBody>
      </p:sp>
      <p:sp>
        <p:nvSpPr>
          <p:cNvPr id="31" name="agent_lifecycle-text-30"/>
          <p:cNvSpPr/>
          <p:nvPr/>
        </p:nvSpPr>
        <p:spPr>
          <a:xfrm>
            <a:off x="7950200" y="5257800"/>
            <a:ext cx="2692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Output Guard</a:t>
            </a:r>
            <a:endParaRPr lang="en-US" sz="2000" dirty="0"/>
          </a:p>
        </p:txBody>
      </p:sp>
      <p:sp>
        <p:nvSpPr>
          <p:cNvPr id="32" name="agent_lifecycle-text-31"/>
          <p:cNvSpPr/>
          <p:nvPr/>
        </p:nvSpPr>
        <p:spPr>
          <a:xfrm>
            <a:off x="7950200" y="5740400"/>
            <a:ext cx="269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Menolak klaim terlarang, field hilang, dan sumber palsu.</a:t>
            </a:r>
            <a:endParaRPr lang="en-US" sz="1400" dirty="0"/>
          </a:p>
        </p:txBody>
      </p:sp>
      <p:sp>
        <p:nvSpPr>
          <p:cNvPr id="33" name="agent_lifecycle-shape-32"/>
          <p:cNvSpPr/>
          <p:nvPr/>
        </p:nvSpPr>
        <p:spPr>
          <a:xfrm>
            <a:off x="11163300" y="4521200"/>
            <a:ext cx="3213100" cy="1879600"/>
          </a:xfrm>
          <a:prstGeom prst="roundRect">
            <a:avLst>
              <a:gd name="adj" fmla="val 6757"/>
            </a:avLst>
          </a:prstGeom>
          <a:solidFill>
            <a:srgbClr val="E8F0EB"/>
          </a:solidFill>
          <a:ln/>
        </p:spPr>
      </p:sp>
      <p:sp>
        <p:nvSpPr>
          <p:cNvPr id="34" name="agent_lifecycle-text-33"/>
          <p:cNvSpPr/>
          <p:nvPr/>
        </p:nvSpPr>
        <p:spPr>
          <a:xfrm>
            <a:off x="11417300" y="4775200"/>
            <a:ext cx="533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2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2200" dirty="0"/>
          </a:p>
        </p:txBody>
      </p:sp>
      <p:sp>
        <p:nvSpPr>
          <p:cNvPr id="35" name="agent_lifecycle-text-34"/>
          <p:cNvSpPr/>
          <p:nvPr/>
        </p:nvSpPr>
        <p:spPr>
          <a:xfrm>
            <a:off x="11417300" y="5257800"/>
            <a:ext cx="2692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Action Recorder</a:t>
            </a:r>
            <a:endParaRPr lang="en-US" sz="2000" dirty="0"/>
          </a:p>
        </p:txBody>
      </p:sp>
      <p:sp>
        <p:nvSpPr>
          <p:cNvPr id="36" name="agent_lifecycle-text-35"/>
          <p:cNvSpPr/>
          <p:nvPr/>
        </p:nvSpPr>
        <p:spPr>
          <a:xfrm>
            <a:off x="11417300" y="5740400"/>
            <a:ext cx="2692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Menyimpan run, step, action, audit event, dan delivery state.</a:t>
            </a:r>
            <a:endParaRPr lang="en-US" sz="1400" dirty="0"/>
          </a:p>
        </p:txBody>
      </p:sp>
      <p:sp>
        <p:nvSpPr>
          <p:cNvPr id="37" name="agent_lifecycle-shape-36"/>
          <p:cNvSpPr/>
          <p:nvPr/>
        </p:nvSpPr>
        <p:spPr>
          <a:xfrm>
            <a:off x="762000" y="6858000"/>
            <a:ext cx="13335000" cy="965200"/>
          </a:xfrm>
          <a:prstGeom prst="roundRect">
            <a:avLst>
              <a:gd name="adj" fmla="val 13158"/>
            </a:avLst>
          </a:prstGeom>
          <a:solidFill>
            <a:srgbClr val="F2EFE9"/>
          </a:solidFill>
          <a:ln/>
        </p:spPr>
      </p:sp>
      <p:sp>
        <p:nvSpPr>
          <p:cNvPr id="38" name="agent_lifecycle-text-37"/>
          <p:cNvSpPr/>
          <p:nvPr/>
        </p:nvSpPr>
        <p:spPr>
          <a:xfrm>
            <a:off x="1066800" y="7035800"/>
            <a:ext cx="1270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b="1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Deterministic fallback:</a:t>
            </a:r>
            <a:r>
              <a:rPr lang="en-US" altLang="en-US" sz="16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bila LLM tidak tersedia atau output tidak valid, backend tetap menghasilkan jawaban aman dan mencatat mode fallback. Tidak ada klaim “connected”, “sent”, atau “berhasil” tanpa bukti status durable.</a:t>
            </a:r>
            <a:endParaRPr lang="en-US" sz="1600" dirty="0"/>
          </a:p>
        </p:txBody>
      </p:sp>
      <p:sp>
        <p:nvSpPr>
          <p:cNvPr id="39" name="agent_lifecycle-text-38"/>
          <p:cNvSpPr/>
          <p:nvPr/>
        </p:nvSpPr>
        <p:spPr>
          <a:xfrm>
            <a:off x="14859000" y="858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d_pipeline-shape-1"/>
          <p:cNvSpPr/>
          <p:nvPr/>
        </p:nvSpPr>
        <p:spPr>
          <a:xfrm>
            <a:off x="762000" y="508000"/>
            <a:ext cx="965200" cy="508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food_pipeline-text-2"/>
          <p:cNvSpPr/>
          <p:nvPr/>
        </p:nvSpPr>
        <p:spPr>
          <a:xfrm>
            <a:off x="762000" y="863600"/>
            <a:ext cx="1181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pangan: banyak data, eligibility tetap ketat</a:t>
            </a:r>
            <a:endParaRPr lang="en-US" sz="3200" dirty="0"/>
          </a:p>
        </p:txBody>
      </p:sp>
      <p:sp>
        <p:nvSpPr>
          <p:cNvPr id="4" name="food_pipeline-text-3"/>
          <p:cNvSpPr/>
          <p:nvPr/>
        </p:nvSpPr>
        <p:spPr>
          <a:xfrm>
            <a:off x="762000" y="1600200"/>
            <a:ext cx="1257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Jumlah data bukan bukti kelayakan. Record hanya boleh digunakan sesuai tingkat eligibility dan bukti provenance.</a:t>
            </a:r>
            <a:endParaRPr lang="en-US" sz="2000" dirty="0"/>
          </a:p>
        </p:txBody>
      </p:sp>
      <p:sp>
        <p:nvSpPr>
          <p:cNvPr id="5" name="food_pipeline-shape-4"/>
          <p:cNvSpPr/>
          <p:nvPr/>
        </p:nvSpPr>
        <p:spPr>
          <a:xfrm>
            <a:off x="762000" y="2311400"/>
            <a:ext cx="9652000" cy="990600"/>
          </a:xfrm>
          <a:prstGeom prst="roundRect">
            <a:avLst>
              <a:gd name="adj" fmla="val 12821"/>
            </a:avLst>
          </a:prstGeom>
          <a:solidFill>
            <a:srgbClr val="F2EFE9"/>
          </a:solidFill>
          <a:ln/>
        </p:spPr>
      </p:sp>
      <p:sp>
        <p:nvSpPr>
          <p:cNvPr id="6" name="food_pipeline-text-5"/>
          <p:cNvSpPr/>
          <p:nvPr/>
        </p:nvSpPr>
        <p:spPr>
          <a:xfrm>
            <a:off x="1117600" y="2489200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Raw records</a:t>
            </a:r>
            <a:endParaRPr lang="en-US" sz="2000" dirty="0"/>
          </a:p>
        </p:txBody>
      </p:sp>
      <p:sp>
        <p:nvSpPr>
          <p:cNvPr id="7" name="food_pipeline-text-6"/>
          <p:cNvSpPr/>
          <p:nvPr/>
        </p:nvSpPr>
        <p:spPr>
          <a:xfrm>
            <a:off x="1117600" y="2895600"/>
            <a:ext cx="876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CSV snapshots diimpor tanpa diubah: payload JSON, source record ID, nomor baris, checksum, dan snapshot metadata.</a:t>
            </a:r>
            <a:endParaRPr lang="en-US" sz="1400" dirty="0"/>
          </a:p>
        </p:txBody>
      </p:sp>
      <p:sp>
        <p:nvSpPr>
          <p:cNvPr id="8" name="food_pipeline-shape-7"/>
          <p:cNvSpPr/>
          <p:nvPr/>
        </p:nvSpPr>
        <p:spPr>
          <a:xfrm>
            <a:off x="10160000" y="2489200"/>
            <a:ext cx="736600" cy="635000"/>
          </a:xfrm>
          <a:prstGeom prst="chevron">
            <a:avLst>
              <a:gd name="adj" fmla="val 35000"/>
            </a:avLst>
          </a:prstGeom>
          <a:solidFill>
            <a:srgbClr val="D3D9D5"/>
          </a:solidFill>
          <a:ln/>
        </p:spPr>
      </p:sp>
      <p:sp>
        <p:nvSpPr>
          <p:cNvPr id="9" name="food_pipeline-shape-8"/>
          <p:cNvSpPr/>
          <p:nvPr/>
        </p:nvSpPr>
        <p:spPr>
          <a:xfrm>
            <a:off x="11023600" y="2311400"/>
            <a:ext cx="3962400" cy="990600"/>
          </a:xfrm>
          <a:prstGeom prst="roundRect">
            <a:avLst>
              <a:gd name="adj" fmla="val 12821"/>
            </a:avLst>
          </a:prstGeom>
          <a:solidFill>
            <a:srgbClr val="E8F0EB"/>
          </a:solidFill>
          <a:ln/>
        </p:spPr>
      </p:sp>
      <p:sp>
        <p:nvSpPr>
          <p:cNvPr id="10" name="food_pipeline-text-9"/>
          <p:cNvSpPr/>
          <p:nvPr/>
        </p:nvSpPr>
        <p:spPr>
          <a:xfrm>
            <a:off x="11303000" y="2489200"/>
            <a:ext cx="340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7.809 raw</a:t>
            </a:r>
            <a:endParaRPr lang="en-US" sz="2000" dirty="0"/>
          </a:p>
        </p:txBody>
      </p:sp>
      <p:sp>
        <p:nvSpPr>
          <p:cNvPr id="11" name="food_pipeline-text-10"/>
          <p:cNvSpPr/>
          <p:nvPr/>
        </p:nvSpPr>
        <p:spPr>
          <a:xfrm>
            <a:off x="11303000" y="28956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Import saat ini</a:t>
            </a:r>
            <a:endParaRPr lang="en-US" sz="1400" dirty="0"/>
          </a:p>
        </p:txBody>
      </p:sp>
      <p:sp>
        <p:nvSpPr>
          <p:cNvPr id="12" name="food_pipeline-shape-11"/>
          <p:cNvSpPr/>
          <p:nvPr/>
        </p:nvSpPr>
        <p:spPr>
          <a:xfrm>
            <a:off x="762000" y="3632200"/>
            <a:ext cx="9652000" cy="990600"/>
          </a:xfrm>
          <a:prstGeom prst="roundRect">
            <a:avLst>
              <a:gd name="adj" fmla="val 12821"/>
            </a:avLst>
          </a:prstGeom>
          <a:solidFill>
            <a:srgbClr val="F2EFE9"/>
          </a:solidFill>
          <a:ln/>
        </p:spPr>
      </p:sp>
      <p:sp>
        <p:nvSpPr>
          <p:cNvPr id="13" name="food_pipeline-text-12"/>
          <p:cNvSpPr/>
          <p:nvPr/>
        </p:nvSpPr>
        <p:spPr>
          <a:xfrm>
            <a:off x="1117600" y="38100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Normalisasi + kanonikal</a:t>
            </a:r>
            <a:endParaRPr lang="en-US" sz="2000" dirty="0"/>
          </a:p>
        </p:txBody>
      </p:sp>
      <p:sp>
        <p:nvSpPr>
          <p:cNvPr id="14" name="food_pipeline-text-13"/>
          <p:cNvSpPr/>
          <p:nvPr/>
        </p:nvSpPr>
        <p:spPr>
          <a:xfrm>
            <a:off x="1117600" y="4216400"/>
            <a:ext cx="876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Unicode, whitespace, brand, barcode, nomor BPOM, alias, dan klasifikasi tipe record; merge dilakukan konservatif.</a:t>
            </a:r>
            <a:endParaRPr lang="en-US" sz="1400" dirty="0"/>
          </a:p>
        </p:txBody>
      </p:sp>
      <p:sp>
        <p:nvSpPr>
          <p:cNvPr id="15" name="food_pipeline-shape-14"/>
          <p:cNvSpPr/>
          <p:nvPr/>
        </p:nvSpPr>
        <p:spPr>
          <a:xfrm>
            <a:off x="10160000" y="3810000"/>
            <a:ext cx="736600" cy="635000"/>
          </a:xfrm>
          <a:prstGeom prst="chevron">
            <a:avLst>
              <a:gd name="adj" fmla="val 35000"/>
            </a:avLst>
          </a:prstGeom>
          <a:solidFill>
            <a:srgbClr val="D3D9D5"/>
          </a:solidFill>
          <a:ln/>
        </p:spPr>
      </p:sp>
      <p:sp>
        <p:nvSpPr>
          <p:cNvPr id="16" name="food_pipeline-shape-15"/>
          <p:cNvSpPr/>
          <p:nvPr/>
        </p:nvSpPr>
        <p:spPr>
          <a:xfrm>
            <a:off x="11023600" y="3632200"/>
            <a:ext cx="3962400" cy="990600"/>
          </a:xfrm>
          <a:prstGeom prst="roundRect">
            <a:avLst>
              <a:gd name="adj" fmla="val 12821"/>
            </a:avLst>
          </a:prstGeom>
          <a:solidFill>
            <a:srgbClr val="E8F0EB"/>
          </a:solidFill>
          <a:ln/>
        </p:spPr>
      </p:sp>
      <p:sp>
        <p:nvSpPr>
          <p:cNvPr id="17" name="food_pipeline-text-16"/>
          <p:cNvSpPr/>
          <p:nvPr/>
        </p:nvSpPr>
        <p:spPr>
          <a:xfrm>
            <a:off x="11303000" y="3810000"/>
            <a:ext cx="340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7.026 canonical</a:t>
            </a:r>
            <a:endParaRPr lang="en-US" sz="2000" dirty="0"/>
          </a:p>
        </p:txBody>
      </p:sp>
      <p:sp>
        <p:nvSpPr>
          <p:cNvPr id="18" name="food_pipeline-text-17"/>
          <p:cNvSpPr/>
          <p:nvPr/>
        </p:nvSpPr>
        <p:spPr>
          <a:xfrm>
            <a:off x="11303000" y="42164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Entitas ternormalisasi</a:t>
            </a:r>
            <a:endParaRPr lang="en-US" sz="1400" dirty="0"/>
          </a:p>
        </p:txBody>
      </p:sp>
      <p:sp>
        <p:nvSpPr>
          <p:cNvPr id="19" name="food_pipeline-shape-18"/>
          <p:cNvSpPr/>
          <p:nvPr/>
        </p:nvSpPr>
        <p:spPr>
          <a:xfrm>
            <a:off x="762000" y="4953000"/>
            <a:ext cx="9652000" cy="990600"/>
          </a:xfrm>
          <a:prstGeom prst="roundRect">
            <a:avLst>
              <a:gd name="adj" fmla="val 12821"/>
            </a:avLst>
          </a:prstGeom>
          <a:solidFill>
            <a:srgbClr val="FFF4EF"/>
          </a:solidFill>
          <a:ln/>
        </p:spPr>
      </p:sp>
      <p:sp>
        <p:nvSpPr>
          <p:cNvPr id="20" name="food_pipeline-text-19"/>
          <p:cNvSpPr/>
          <p:nvPr/>
        </p:nvSpPr>
        <p:spPr>
          <a:xfrm>
            <a:off x="1117600" y="51308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Karantina &amp; isu</a:t>
            </a:r>
            <a:endParaRPr lang="en-US" sz="2000" dirty="0"/>
          </a:p>
        </p:txBody>
      </p:sp>
      <p:sp>
        <p:nvSpPr>
          <p:cNvPr id="21" name="food_pipeline-text-20"/>
          <p:cNvSpPr/>
          <p:nvPr/>
        </p:nvSpPr>
        <p:spPr>
          <a:xfrm>
            <a:off x="1117600" y="5537200"/>
            <a:ext cx="876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Record ambigu, nama kosong, unit tidak jelas, barcode konflik, dan parsing bermasalah disimpan sebagai normalization issues.</a:t>
            </a:r>
            <a:endParaRPr lang="en-US" sz="1400" dirty="0"/>
          </a:p>
        </p:txBody>
      </p:sp>
      <p:sp>
        <p:nvSpPr>
          <p:cNvPr id="22" name="food_pipeline-shape-21"/>
          <p:cNvSpPr/>
          <p:nvPr/>
        </p:nvSpPr>
        <p:spPr>
          <a:xfrm>
            <a:off x="10160000" y="5130800"/>
            <a:ext cx="736600" cy="635000"/>
          </a:xfrm>
          <a:prstGeom prst="chevron">
            <a:avLst>
              <a:gd name="adj" fmla="val 35000"/>
            </a:avLst>
          </a:prstGeom>
          <a:solidFill>
            <a:srgbClr val="E07A5F"/>
          </a:solidFill>
          <a:ln/>
        </p:spPr>
      </p:sp>
      <p:sp>
        <p:nvSpPr>
          <p:cNvPr id="23" name="food_pipeline-shape-22"/>
          <p:cNvSpPr/>
          <p:nvPr/>
        </p:nvSpPr>
        <p:spPr>
          <a:xfrm>
            <a:off x="11023600" y="4953000"/>
            <a:ext cx="3962400" cy="990600"/>
          </a:xfrm>
          <a:prstGeom prst="roundRect">
            <a:avLst>
              <a:gd name="adj" fmla="val 12821"/>
            </a:avLst>
          </a:prstGeom>
          <a:solidFill>
            <a:srgbClr val="FFF4EF"/>
          </a:solidFill>
          <a:ln/>
        </p:spPr>
      </p:sp>
      <p:sp>
        <p:nvSpPr>
          <p:cNvPr id="24" name="food_pipeline-text-23"/>
          <p:cNvSpPr/>
          <p:nvPr/>
        </p:nvSpPr>
        <p:spPr>
          <a:xfrm>
            <a:off x="11303000" y="5130800"/>
            <a:ext cx="340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Isu terlihat</a:t>
            </a:r>
            <a:endParaRPr lang="en-US" sz="2000" dirty="0"/>
          </a:p>
        </p:txBody>
      </p:sp>
      <p:sp>
        <p:nvSpPr>
          <p:cNvPr id="25" name="food_pipeline-text-24"/>
          <p:cNvSpPr/>
          <p:nvPr/>
        </p:nvSpPr>
        <p:spPr>
          <a:xfrm>
            <a:off x="11303000" y="5537200"/>
            <a:ext cx="3403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Tidak dihapus diam-diam</a:t>
            </a:r>
            <a:endParaRPr lang="en-US" sz="1400" dirty="0"/>
          </a:p>
        </p:txBody>
      </p:sp>
      <p:sp>
        <p:nvSpPr>
          <p:cNvPr id="26" name="food_pipeline-shape-25"/>
          <p:cNvSpPr/>
          <p:nvPr/>
        </p:nvSpPr>
        <p:spPr>
          <a:xfrm>
            <a:off x="762000" y="6273800"/>
            <a:ext cx="9652000" cy="1244600"/>
          </a:xfrm>
          <a:prstGeom prst="roundRect">
            <a:avLst>
              <a:gd name="adj" fmla="val 10204"/>
            </a:avLst>
          </a:prstGeom>
          <a:solidFill>
            <a:srgbClr val="E8F0EB"/>
          </a:solidFill>
          <a:ln/>
        </p:spPr>
      </p:sp>
      <p:sp>
        <p:nvSpPr>
          <p:cNvPr id="27" name="food_pipeline-text-26"/>
          <p:cNvSpPr/>
          <p:nvPr/>
        </p:nvSpPr>
        <p:spPr>
          <a:xfrm>
            <a:off x="1117600" y="64770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Eligibility eksplisit</a:t>
            </a:r>
            <a:endParaRPr lang="en-US" sz="2000" dirty="0"/>
          </a:p>
        </p:txBody>
      </p:sp>
      <p:sp>
        <p:nvSpPr>
          <p:cNvPr id="28" name="food_pipeline-text-27"/>
          <p:cNvSpPr/>
          <p:nvPr/>
        </p:nvSpPr>
        <p:spPr>
          <a:xfrm>
            <a:off x="1117600" y="6883400"/>
            <a:ext cx="876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Discovery, comparison, dan planning dipisahkan. Nilai gizi kosong tetap unknown; record tanpa bukti tidak dipakai planner.</a:t>
            </a:r>
            <a:endParaRPr lang="en-US" sz="1400" dirty="0"/>
          </a:p>
        </p:txBody>
      </p:sp>
      <p:sp>
        <p:nvSpPr>
          <p:cNvPr id="29" name="food_pipeline-shape-28"/>
          <p:cNvSpPr/>
          <p:nvPr/>
        </p:nvSpPr>
        <p:spPr>
          <a:xfrm>
            <a:off x="11023600" y="6273800"/>
            <a:ext cx="3962400" cy="1244600"/>
          </a:xfrm>
          <a:prstGeom prst="roundRect">
            <a:avLst>
              <a:gd name="adj" fmla="val 10204"/>
            </a:avLst>
          </a:prstGeom>
          <a:solidFill>
            <a:srgbClr val="E8F0EB"/>
          </a:solidFill>
          <a:ln/>
        </p:spPr>
      </p:sp>
      <p:sp>
        <p:nvSpPr>
          <p:cNvPr id="30" name="food_pipeline-text-29"/>
          <p:cNvSpPr/>
          <p:nvPr/>
        </p:nvSpPr>
        <p:spPr>
          <a:xfrm>
            <a:off x="11303000" y="6477000"/>
            <a:ext cx="3403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411 comparison</a:t>
            </a:r>
            <a:endParaRPr lang="en-US" sz="2000" dirty="0"/>
          </a:p>
        </p:txBody>
      </p:sp>
      <p:sp>
        <p:nvSpPr>
          <p:cNvPr id="31" name="food_pipeline-text-30"/>
          <p:cNvSpPr/>
          <p:nvPr/>
        </p:nvSpPr>
        <p:spPr>
          <a:xfrm>
            <a:off x="11303000" y="6883400"/>
            <a:ext cx="3403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Planning-eligible saat ini: </a:t>
            </a:r>
            <a:r>
              <a:rPr lang="en-US" altLang="en-US" sz="1400" b="1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</a:t>
            </a: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pada dataset ini</a:t>
            </a:r>
            <a:endParaRPr lang="en-US" sz="1400" dirty="0"/>
          </a:p>
        </p:txBody>
      </p:sp>
      <p:sp>
        <p:nvSpPr>
          <p:cNvPr id="32" name="food_pipeline-text-31"/>
          <p:cNvSpPr/>
          <p:nvPr/>
        </p:nvSpPr>
        <p:spPr>
          <a:xfrm>
            <a:off x="762000" y="7874000"/>
            <a:ext cx="13335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Nilai 0 planning-eligible bukan kegagalan impor; itu adalah hasil quality gate yang mencegah rekomendasi tanpa nilai gizi eksplisit.</a:t>
            </a:r>
            <a:endParaRPr lang="en-US" sz="1400" dirty="0"/>
          </a:p>
        </p:txBody>
      </p:sp>
      <p:sp>
        <p:nvSpPr>
          <p:cNvPr id="33" name="food_pipeline-text-32"/>
          <p:cNvSpPr/>
          <p:nvPr/>
        </p:nvSpPr>
        <p:spPr>
          <a:xfrm>
            <a:off x="14859000" y="858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urity_channels-shape-1"/>
          <p:cNvSpPr/>
          <p:nvPr/>
        </p:nvSpPr>
        <p:spPr>
          <a:xfrm>
            <a:off x="762000" y="508000"/>
            <a:ext cx="965200" cy="508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security_channels-text-2"/>
          <p:cNvSpPr/>
          <p:nvPr/>
        </p:nvSpPr>
        <p:spPr>
          <a:xfrm>
            <a:off x="762000" y="863600"/>
            <a:ext cx="1181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Keamanan, privasi, dan Telegram</a:t>
            </a:r>
            <a:endParaRPr lang="en-US" sz="3200" dirty="0"/>
          </a:p>
        </p:txBody>
      </p:sp>
      <p:sp>
        <p:nvSpPr>
          <p:cNvPr id="4" name="security_channels-text-3"/>
          <p:cNvSpPr/>
          <p:nvPr/>
        </p:nvSpPr>
        <p:spPr>
          <a:xfrm>
            <a:off x="762000" y="1600200"/>
            <a:ext cx="1257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Prinsip utamanya: data keluarga hanya boleh dipakai untuk tujuan yang disetujui, dan kanal eksternal tidak boleh mengklaim sukses tanpa bukti.</a:t>
            </a:r>
            <a:endParaRPr lang="en-US" sz="2000" dirty="0"/>
          </a:p>
        </p:txBody>
      </p:sp>
      <p:sp>
        <p:nvSpPr>
          <p:cNvPr id="5" name="security_channels-shape-4"/>
          <p:cNvSpPr/>
          <p:nvPr/>
        </p:nvSpPr>
        <p:spPr>
          <a:xfrm>
            <a:off x="762000" y="2336800"/>
            <a:ext cx="4318000" cy="1905000"/>
          </a:xfrm>
          <a:prstGeom prst="roundRect">
            <a:avLst>
              <a:gd name="adj" fmla="val 6667"/>
            </a:avLst>
          </a:prstGeom>
          <a:solidFill>
            <a:srgbClr val="E8F0EB"/>
          </a:solidFill>
          <a:ln/>
        </p:spPr>
      </p:sp>
      <p:pic>
        <p:nvPicPr>
          <p:cNvPr id="6" name="security_channels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2641600"/>
            <a:ext cx="381000" cy="381000"/>
          </a:xfrm>
          <a:prstGeom prst="rect">
            <a:avLst/>
          </a:prstGeom>
        </p:spPr>
      </p:pic>
      <p:sp>
        <p:nvSpPr>
          <p:cNvPr id="7" name="security_channels-text-6"/>
          <p:cNvSpPr/>
          <p:nvPr/>
        </p:nvSpPr>
        <p:spPr>
          <a:xfrm>
            <a:off x="1600200" y="26035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Session opaque</a:t>
            </a:r>
            <a:endParaRPr lang="en-US" sz="2000" dirty="0"/>
          </a:p>
        </p:txBody>
      </p:sp>
      <p:sp>
        <p:nvSpPr>
          <p:cNvPr id="8" name="security_channels-text-7"/>
          <p:cNvSpPr/>
          <p:nvPr/>
        </p:nvSpPr>
        <p:spPr>
          <a:xfrm>
            <a:off x="1066800" y="3200400"/>
            <a:ext cx="370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Password memakai PBKDF2-SHA256; token sesi hanya disimpan sebagai hash SHA-256.</a:t>
            </a:r>
            <a:endParaRPr lang="en-US" sz="1500" dirty="0"/>
          </a:p>
        </p:txBody>
      </p:sp>
      <p:sp>
        <p:nvSpPr>
          <p:cNvPr id="9" name="security_channels-shape-8"/>
          <p:cNvSpPr/>
          <p:nvPr/>
        </p:nvSpPr>
        <p:spPr>
          <a:xfrm>
            <a:off x="5334000" y="2336800"/>
            <a:ext cx="4318000" cy="1905000"/>
          </a:xfrm>
          <a:prstGeom prst="roundRect">
            <a:avLst>
              <a:gd name="adj" fmla="val 6667"/>
            </a:avLst>
          </a:prstGeom>
          <a:solidFill>
            <a:srgbClr val="F2EFE9"/>
          </a:solidFill>
          <a:ln/>
        </p:spPr>
      </p:sp>
      <p:pic>
        <p:nvPicPr>
          <p:cNvPr id="10" name="security_channels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641600"/>
            <a:ext cx="381000" cy="381000"/>
          </a:xfrm>
          <a:prstGeom prst="rect">
            <a:avLst/>
          </a:prstGeom>
        </p:spPr>
      </p:pic>
      <p:sp>
        <p:nvSpPr>
          <p:cNvPr id="11" name="security_channels-text-10"/>
          <p:cNvSpPr/>
          <p:nvPr/>
        </p:nvSpPr>
        <p:spPr>
          <a:xfrm>
            <a:off x="6172200" y="26035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Consent eksplisit</a:t>
            </a:r>
            <a:endParaRPr lang="en-US" sz="2000" dirty="0"/>
          </a:p>
        </p:txBody>
      </p:sp>
      <p:sp>
        <p:nvSpPr>
          <p:cNvPr id="12" name="security_channels-text-11"/>
          <p:cNvSpPr/>
          <p:nvPr/>
        </p:nvSpPr>
        <p:spPr>
          <a:xfrm>
            <a:off x="5638800" y="3200400"/>
            <a:ext cx="370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Registrasi menolak akun tanpa persetujuan pemrosesan data; delivery Telegram dicatat terpisah.</a:t>
            </a:r>
            <a:endParaRPr lang="en-US" sz="1500" dirty="0"/>
          </a:p>
        </p:txBody>
      </p:sp>
      <p:sp>
        <p:nvSpPr>
          <p:cNvPr id="13" name="security_channels-shape-12"/>
          <p:cNvSpPr/>
          <p:nvPr/>
        </p:nvSpPr>
        <p:spPr>
          <a:xfrm>
            <a:off x="9906000" y="2336800"/>
            <a:ext cx="4318000" cy="1905000"/>
          </a:xfrm>
          <a:prstGeom prst="roundRect">
            <a:avLst>
              <a:gd name="adj" fmla="val 6667"/>
            </a:avLst>
          </a:prstGeom>
          <a:solidFill>
            <a:srgbClr val="FFF4EF"/>
          </a:solidFill>
          <a:ln/>
        </p:spPr>
      </p:sp>
      <p:pic>
        <p:nvPicPr>
          <p:cNvPr id="14" name="security_channels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0" y="2641600"/>
            <a:ext cx="381000" cy="381000"/>
          </a:xfrm>
          <a:prstGeom prst="rect">
            <a:avLst/>
          </a:prstGeom>
        </p:spPr>
      </p:pic>
      <p:sp>
        <p:nvSpPr>
          <p:cNvPr id="15" name="security_channels-text-14"/>
          <p:cNvSpPr/>
          <p:nvPr/>
        </p:nvSpPr>
        <p:spPr>
          <a:xfrm>
            <a:off x="10744200" y="26035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Safety stop</a:t>
            </a:r>
            <a:endParaRPr lang="en-US" sz="2000" dirty="0"/>
          </a:p>
        </p:txBody>
      </p:sp>
      <p:sp>
        <p:nvSpPr>
          <p:cNvPr id="16" name="security_channels-text-15"/>
          <p:cNvSpPr/>
          <p:nvPr/>
        </p:nvSpPr>
        <p:spPr>
          <a:xfrm>
            <a:off x="10210800" y="3200400"/>
            <a:ext cx="370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Tanda bahaya dan permintaan dosis dihentikan sebelum LLM; output guard menolak klaim terlarang.</a:t>
            </a:r>
            <a:endParaRPr lang="en-US" sz="1500" dirty="0"/>
          </a:p>
        </p:txBody>
      </p:sp>
      <p:sp>
        <p:nvSpPr>
          <p:cNvPr id="17" name="security_channels-shape-16"/>
          <p:cNvSpPr/>
          <p:nvPr/>
        </p:nvSpPr>
        <p:spPr>
          <a:xfrm>
            <a:off x="762000" y="4546600"/>
            <a:ext cx="4318000" cy="1905000"/>
          </a:xfrm>
          <a:prstGeom prst="roundRect">
            <a:avLst>
              <a:gd name="adj" fmla="val 6667"/>
            </a:avLst>
          </a:prstGeom>
          <a:solidFill>
            <a:srgbClr val="F2EFE9"/>
          </a:solidFill>
          <a:ln/>
        </p:spPr>
      </p:sp>
      <p:pic>
        <p:nvPicPr>
          <p:cNvPr id="18" name="security_channels-icon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4851400"/>
            <a:ext cx="381000" cy="381000"/>
          </a:xfrm>
          <a:prstGeom prst="rect">
            <a:avLst/>
          </a:prstGeom>
        </p:spPr>
      </p:pic>
      <p:sp>
        <p:nvSpPr>
          <p:cNvPr id="19" name="security_channels-text-18"/>
          <p:cNvSpPr/>
          <p:nvPr/>
        </p:nvSpPr>
        <p:spPr>
          <a:xfrm>
            <a:off x="1600200" y="48133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Telegram identity link</a:t>
            </a:r>
            <a:endParaRPr lang="en-US" sz="2000" dirty="0"/>
          </a:p>
        </p:txBody>
      </p:sp>
      <p:sp>
        <p:nvSpPr>
          <p:cNvPr id="20" name="security_channels-text-19"/>
          <p:cNvSpPr/>
          <p:nvPr/>
        </p:nvSpPr>
        <p:spPr>
          <a:xfrm>
            <a:off x="1066800" y="5410200"/>
            <a:ext cx="370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Kode sekali pakai dari website; webhook divalidasi dengan secret token dan inbound event dideduplikasi.</a:t>
            </a:r>
            <a:endParaRPr lang="en-US" sz="1500" dirty="0"/>
          </a:p>
        </p:txBody>
      </p:sp>
      <p:sp>
        <p:nvSpPr>
          <p:cNvPr id="21" name="security_channels-shape-20"/>
          <p:cNvSpPr/>
          <p:nvPr/>
        </p:nvSpPr>
        <p:spPr>
          <a:xfrm>
            <a:off x="5334000" y="4546600"/>
            <a:ext cx="4318000" cy="1905000"/>
          </a:xfrm>
          <a:prstGeom prst="roundRect">
            <a:avLst>
              <a:gd name="adj" fmla="val 6667"/>
            </a:avLst>
          </a:prstGeom>
          <a:solidFill>
            <a:srgbClr val="E8F0EB"/>
          </a:solidFill>
          <a:ln/>
        </p:spPr>
      </p:sp>
      <p:pic>
        <p:nvPicPr>
          <p:cNvPr id="22" name="security_channels-icon-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4851400"/>
            <a:ext cx="381000" cy="381000"/>
          </a:xfrm>
          <a:prstGeom prst="rect">
            <a:avLst/>
          </a:prstGeom>
        </p:spPr>
      </p:pic>
      <p:sp>
        <p:nvSpPr>
          <p:cNvPr id="23" name="security_channels-text-22"/>
          <p:cNvSpPr/>
          <p:nvPr/>
        </p:nvSpPr>
        <p:spPr>
          <a:xfrm>
            <a:off x="6172200" y="48133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Delivery state jujur</a:t>
            </a:r>
            <a:endParaRPr lang="en-US" sz="2000" dirty="0"/>
          </a:p>
        </p:txBody>
      </p:sp>
      <p:sp>
        <p:nvSpPr>
          <p:cNvPr id="24" name="security_channels-text-23"/>
          <p:cNvSpPr/>
          <p:nvPr/>
        </p:nvSpPr>
        <p:spPr>
          <a:xfrm>
            <a:off x="5638800" y="5410200"/>
            <a:ext cx="370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Outbound tetap draft, queued, skipped, atau failed sampai provider benar-benar mengembalikan hasil.</a:t>
            </a:r>
            <a:endParaRPr lang="en-US" sz="1500" dirty="0"/>
          </a:p>
        </p:txBody>
      </p:sp>
      <p:sp>
        <p:nvSpPr>
          <p:cNvPr id="25" name="security_channels-shape-24"/>
          <p:cNvSpPr/>
          <p:nvPr/>
        </p:nvSpPr>
        <p:spPr>
          <a:xfrm>
            <a:off x="9906000" y="4546600"/>
            <a:ext cx="4318000" cy="1905000"/>
          </a:xfrm>
          <a:prstGeom prst="roundRect">
            <a:avLst>
              <a:gd name="adj" fmla="val 6667"/>
            </a:avLst>
          </a:prstGeom>
          <a:solidFill>
            <a:srgbClr val="F2EFE9"/>
          </a:solidFill>
          <a:ln/>
        </p:spPr>
      </p:sp>
      <p:pic>
        <p:nvPicPr>
          <p:cNvPr id="26" name="security_channels-icon-2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0800" y="4851400"/>
            <a:ext cx="381000" cy="381000"/>
          </a:xfrm>
          <a:prstGeom prst="rect">
            <a:avLst/>
          </a:prstGeom>
        </p:spPr>
      </p:pic>
      <p:sp>
        <p:nvSpPr>
          <p:cNvPr id="27" name="security_channels-text-26"/>
          <p:cNvSpPr/>
          <p:nvPr/>
        </p:nvSpPr>
        <p:spPr>
          <a:xfrm>
            <a:off x="10744200" y="4813300"/>
            <a:ext cx="3175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Audit &amp; redaction</a:t>
            </a:r>
            <a:endParaRPr lang="en-US" sz="2000" dirty="0"/>
          </a:p>
        </p:txBody>
      </p:sp>
      <p:sp>
        <p:nvSpPr>
          <p:cNvPr id="28" name="security_channels-text-27"/>
          <p:cNvSpPr/>
          <p:nvPr/>
        </p:nvSpPr>
        <p:spPr>
          <a:xfrm>
            <a:off x="10210800" y="5410200"/>
            <a:ext cx="3708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Run, step, action, consent, dan outbound message tercatat dengan correlation ID dan redaksi.</a:t>
            </a:r>
            <a:endParaRPr lang="en-US" sz="1500" dirty="0"/>
          </a:p>
        </p:txBody>
      </p:sp>
      <p:sp>
        <p:nvSpPr>
          <p:cNvPr id="29" name="security_channels-shape-28"/>
          <p:cNvSpPr/>
          <p:nvPr/>
        </p:nvSpPr>
        <p:spPr>
          <a:xfrm>
            <a:off x="762000" y="6959600"/>
            <a:ext cx="13462000" cy="889000"/>
          </a:xfrm>
          <a:prstGeom prst="roundRect">
            <a:avLst>
              <a:gd name="adj" fmla="val 11429"/>
            </a:avLst>
          </a:prstGeom>
          <a:solidFill>
            <a:srgbClr val="FFF4EF"/>
          </a:solidFill>
          <a:ln/>
        </p:spPr>
      </p:sp>
      <p:sp>
        <p:nvSpPr>
          <p:cNvPr id="30" name="security_channels-text-29"/>
          <p:cNvSpPr/>
          <p:nvPr/>
        </p:nvSpPr>
        <p:spPr>
          <a:xfrm>
            <a:off x="1041400" y="7137400"/>
            <a:ext cx="1282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altLang="en-US" sz="17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Status Telegram di sandbox saat ini:</a:t>
            </a:r>
            <a:r>
              <a:rPr lang="en-US" altLang="en-US" sz="17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adapter, linking, dan test sudah tersedia, tetapi live provider tetap </a:t>
            </a:r>
            <a:r>
              <a:rPr lang="en-US" altLang="en-US" sz="17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unconfigured</a:t>
            </a:r>
            <a:r>
              <a:rPr lang="en-US" altLang="en-US" sz="17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sampai token BotFather baru dan webhook HTTPS disetel pada proses yang tepat.</a:t>
            </a:r>
            <a:endParaRPr lang="en-US" sz="1700" dirty="0"/>
          </a:p>
        </p:txBody>
      </p:sp>
      <p:sp>
        <p:nvSpPr>
          <p:cNvPr id="31" name="security_channels-text-30"/>
          <p:cNvSpPr/>
          <p:nvPr/>
        </p:nvSpPr>
        <p:spPr>
          <a:xfrm>
            <a:off x="14859000" y="858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hitecture_runtime-shape-1"/>
          <p:cNvSpPr/>
          <p:nvPr/>
        </p:nvSpPr>
        <p:spPr>
          <a:xfrm>
            <a:off x="762000" y="508000"/>
            <a:ext cx="965200" cy="508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architecture_runtime-text-2"/>
          <p:cNvSpPr/>
          <p:nvPr/>
        </p:nvSpPr>
        <p:spPr>
          <a:xfrm>
            <a:off x="762000" y="863600"/>
            <a:ext cx="1181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Arsitektur runtime &amp; status implementasi</a:t>
            </a:r>
            <a:endParaRPr lang="en-US" sz="3200" dirty="0"/>
          </a:p>
        </p:txBody>
      </p:sp>
      <p:sp>
        <p:nvSpPr>
          <p:cNvPr id="4" name="architecture_runtime-text-3"/>
          <p:cNvSpPr/>
          <p:nvPr/>
        </p:nvSpPr>
        <p:spPr>
          <a:xfrm>
            <a:off x="762000" y="1600200"/>
            <a:ext cx="1257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Prototipe berjalan sebagai satu aplikasi full-stack: frontend build disajikan FastAPI, SQLite WAL menjadi system of record, dan worker menjalankan job agent.</a:t>
            </a:r>
            <a:endParaRPr lang="en-US" sz="2000" dirty="0"/>
          </a:p>
        </p:txBody>
      </p:sp>
      <p:sp>
        <p:nvSpPr>
          <p:cNvPr id="5" name="architecture_runtime-shape-4"/>
          <p:cNvSpPr/>
          <p:nvPr/>
        </p:nvSpPr>
        <p:spPr>
          <a:xfrm>
            <a:off x="762000" y="2336800"/>
            <a:ext cx="3327400" cy="2286000"/>
          </a:xfrm>
          <a:prstGeom prst="roundRect">
            <a:avLst>
              <a:gd name="adj" fmla="val 5556"/>
            </a:avLst>
          </a:prstGeom>
          <a:solidFill>
            <a:srgbClr val="E8F0EB"/>
          </a:solidFill>
          <a:ln/>
        </p:spPr>
      </p:sp>
      <p:pic>
        <p:nvPicPr>
          <p:cNvPr id="6" name="architecture_runtime-icon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2616200"/>
            <a:ext cx="355600" cy="355600"/>
          </a:xfrm>
          <a:prstGeom prst="rect">
            <a:avLst/>
          </a:prstGeom>
        </p:spPr>
      </p:pic>
      <p:sp>
        <p:nvSpPr>
          <p:cNvPr id="7" name="architecture_runtime-text-6"/>
          <p:cNvSpPr/>
          <p:nvPr/>
        </p:nvSpPr>
        <p:spPr>
          <a:xfrm>
            <a:off x="1574800" y="2578100"/>
            <a:ext cx="215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</a:t>
            </a:r>
            <a:endParaRPr lang="en-US" sz="2000" dirty="0"/>
          </a:p>
        </p:txBody>
      </p:sp>
      <p:sp>
        <p:nvSpPr>
          <p:cNvPr id="8" name="architecture_runtime-text-7"/>
          <p:cNvSpPr/>
          <p:nvPr/>
        </p:nvSpPr>
        <p:spPr>
          <a:xfrm>
            <a:off x="1066800" y="3200400"/>
            <a:ext cx="2717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38125" indent="-238125">
              <a:lnSpc>
                <a:spcPts val="20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 18 + TypeScript</a:t>
            </a:r>
            <a:endParaRPr lang="en-US" sz="1500" dirty="0"/>
          </a:p>
          <a:p>
            <a:pPr algn="l" marL="238125" indent="-238125">
              <a:lnSpc>
                <a:spcPts val="20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Vite build `dist/`</a:t>
            </a:r>
            <a:endParaRPr lang="en-US" sz="1500" dirty="0"/>
          </a:p>
          <a:p>
            <a:pPr algn="l" marL="238125" indent="-238125">
              <a:lnSpc>
                <a:spcPts val="20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Landing, auth, dashboard, panduan, arsitektur</a:t>
            </a:r>
            <a:endParaRPr lang="en-US" sz="1500" dirty="0"/>
          </a:p>
        </p:txBody>
      </p:sp>
      <p:sp>
        <p:nvSpPr>
          <p:cNvPr id="9" name="architecture_runtime-shape-8"/>
          <p:cNvSpPr/>
          <p:nvPr/>
        </p:nvSpPr>
        <p:spPr>
          <a:xfrm>
            <a:off x="4572000" y="2336800"/>
            <a:ext cx="4318000" cy="2286000"/>
          </a:xfrm>
          <a:prstGeom prst="roundRect">
            <a:avLst>
              <a:gd name="adj" fmla="val 5556"/>
            </a:avLst>
          </a:prstGeom>
          <a:solidFill>
            <a:srgbClr val="F2EFE9"/>
          </a:solidFill>
          <a:ln/>
        </p:spPr>
      </p:sp>
      <p:pic>
        <p:nvPicPr>
          <p:cNvPr id="10" name="architecture_runtime-icon-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2616200"/>
            <a:ext cx="355600" cy="355600"/>
          </a:xfrm>
          <a:prstGeom prst="rect">
            <a:avLst/>
          </a:prstGeom>
        </p:spPr>
      </p:pic>
      <p:sp>
        <p:nvSpPr>
          <p:cNvPr id="11" name="architecture_runtime-text-10"/>
          <p:cNvSpPr/>
          <p:nvPr/>
        </p:nvSpPr>
        <p:spPr>
          <a:xfrm>
            <a:off x="5384800" y="2578100"/>
            <a:ext cx="304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FastAPI Backend</a:t>
            </a:r>
            <a:endParaRPr lang="en-US" sz="2000" dirty="0"/>
          </a:p>
        </p:txBody>
      </p:sp>
      <p:sp>
        <p:nvSpPr>
          <p:cNvPr id="12" name="architecture_runtime-text-11"/>
          <p:cNvSpPr/>
          <p:nvPr/>
        </p:nvSpPr>
        <p:spPr>
          <a:xfrm>
            <a:off x="4876800" y="3200400"/>
            <a:ext cx="3657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38125" indent="-238125">
              <a:lnSpc>
                <a:spcPts val="20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Auth, dashboard, agent chat, food search</a:t>
            </a:r>
            <a:endParaRPr lang="en-US" sz="1500" dirty="0"/>
          </a:p>
          <a:p>
            <a:pPr algn="l" marL="238125" indent="-238125">
              <a:lnSpc>
                <a:spcPts val="20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Security headers dan CORS terbatas</a:t>
            </a:r>
            <a:endParaRPr lang="en-US" sz="1500" dirty="0"/>
          </a:p>
          <a:p>
            <a:pPr algn="l" marL="238125" indent="-238125">
              <a:lnSpc>
                <a:spcPts val="20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Serve `/api/*` dan static frontend</a:t>
            </a:r>
            <a:endParaRPr lang="en-US" sz="1500" dirty="0"/>
          </a:p>
        </p:txBody>
      </p:sp>
      <p:sp>
        <p:nvSpPr>
          <p:cNvPr id="13" name="architecture_runtime-shape-12"/>
          <p:cNvSpPr/>
          <p:nvPr/>
        </p:nvSpPr>
        <p:spPr>
          <a:xfrm>
            <a:off x="9372600" y="2336800"/>
            <a:ext cx="4572000" cy="2286000"/>
          </a:xfrm>
          <a:prstGeom prst="roundRect">
            <a:avLst>
              <a:gd name="adj" fmla="val 5556"/>
            </a:avLst>
          </a:prstGeom>
          <a:solidFill>
            <a:srgbClr val="E8F0EB"/>
          </a:solidFill>
          <a:ln/>
        </p:spPr>
      </p:sp>
      <p:pic>
        <p:nvPicPr>
          <p:cNvPr id="14" name="architecture_runtime-icon-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2616200"/>
            <a:ext cx="355600" cy="355600"/>
          </a:xfrm>
          <a:prstGeom prst="rect">
            <a:avLst/>
          </a:prstGeom>
        </p:spPr>
      </p:pic>
      <p:sp>
        <p:nvSpPr>
          <p:cNvPr id="15" name="architecture_runtime-text-14"/>
          <p:cNvSpPr/>
          <p:nvPr/>
        </p:nvSpPr>
        <p:spPr>
          <a:xfrm>
            <a:off x="10185400" y="2578100"/>
            <a:ext cx="330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SQLite WAL</a:t>
            </a:r>
            <a:endParaRPr lang="en-US" sz="2000" dirty="0"/>
          </a:p>
        </p:txBody>
      </p:sp>
      <p:sp>
        <p:nvSpPr>
          <p:cNvPr id="16" name="architecture_runtime-text-15"/>
          <p:cNvSpPr/>
          <p:nvPr/>
        </p:nvSpPr>
        <p:spPr>
          <a:xfrm>
            <a:off x="9677400" y="3200400"/>
            <a:ext cx="3911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38125" indent="-238125">
              <a:lnSpc>
                <a:spcPts val="20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Identity, family, food, agent runtime</a:t>
            </a:r>
            <a:endParaRPr lang="en-US" sz="1500" dirty="0"/>
          </a:p>
          <a:p>
            <a:pPr algn="l" marL="238125" indent="-238125">
              <a:lnSpc>
                <a:spcPts val="20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FK checks, transaksi, dan trace durable</a:t>
            </a:r>
            <a:endParaRPr lang="en-US" sz="1500" dirty="0"/>
          </a:p>
          <a:p>
            <a:pPr algn="l" marL="238125" indent="-238125">
              <a:lnSpc>
                <a:spcPts val="2025"/>
              </a:lnSpc>
              <a:spcBef>
                <a:spcPts val="10"/>
              </a:spcBef>
              <a:buSzPct val="100000"/>
              <a:buChar char="•"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FTS/discovery + eligibility terpisah</a:t>
            </a:r>
            <a:endParaRPr lang="en-US" sz="1500" dirty="0"/>
          </a:p>
        </p:txBody>
      </p:sp>
      <p:sp>
        <p:nvSpPr>
          <p:cNvPr id="17" name="architecture_runtime-shape-16"/>
          <p:cNvSpPr/>
          <p:nvPr/>
        </p:nvSpPr>
        <p:spPr>
          <a:xfrm>
            <a:off x="762000" y="5080000"/>
            <a:ext cx="3327400" cy="1930400"/>
          </a:xfrm>
          <a:prstGeom prst="roundRect">
            <a:avLst>
              <a:gd name="adj" fmla="val 6579"/>
            </a:avLst>
          </a:prstGeom>
          <a:solidFill>
            <a:srgbClr val="F2EFE9"/>
          </a:solidFill>
          <a:ln/>
        </p:spPr>
      </p:sp>
      <p:pic>
        <p:nvPicPr>
          <p:cNvPr id="18" name="architecture_runtime-icon-1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5359400"/>
            <a:ext cx="355600" cy="355600"/>
          </a:xfrm>
          <a:prstGeom prst="rect">
            <a:avLst/>
          </a:prstGeom>
        </p:spPr>
      </p:pic>
      <p:sp>
        <p:nvSpPr>
          <p:cNvPr id="19" name="architecture_runtime-text-18"/>
          <p:cNvSpPr/>
          <p:nvPr/>
        </p:nvSpPr>
        <p:spPr>
          <a:xfrm>
            <a:off x="1574800" y="5321300"/>
            <a:ext cx="2159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Worker + Agent</a:t>
            </a:r>
            <a:endParaRPr lang="en-US" sz="2000" dirty="0"/>
          </a:p>
        </p:txBody>
      </p:sp>
      <p:sp>
        <p:nvSpPr>
          <p:cNvPr id="20" name="architecture_runtime-text-19"/>
          <p:cNvSpPr/>
          <p:nvPr/>
        </p:nvSpPr>
        <p:spPr>
          <a:xfrm>
            <a:off x="1066800" y="5943600"/>
            <a:ext cx="2717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Transactional claim, correlation ID, steps, run status, dan deterministic fallback.</a:t>
            </a:r>
            <a:endParaRPr lang="en-US" sz="1500" dirty="0"/>
          </a:p>
        </p:txBody>
      </p:sp>
      <p:sp>
        <p:nvSpPr>
          <p:cNvPr id="21" name="architecture_runtime-shape-20"/>
          <p:cNvSpPr/>
          <p:nvPr/>
        </p:nvSpPr>
        <p:spPr>
          <a:xfrm>
            <a:off x="4572000" y="5080000"/>
            <a:ext cx="4318000" cy="1930400"/>
          </a:xfrm>
          <a:prstGeom prst="roundRect">
            <a:avLst>
              <a:gd name="adj" fmla="val 6579"/>
            </a:avLst>
          </a:prstGeom>
          <a:solidFill>
            <a:srgbClr val="FFF4EF"/>
          </a:solidFill>
          <a:ln/>
        </p:spPr>
      </p:sp>
      <p:pic>
        <p:nvPicPr>
          <p:cNvPr id="22" name="architecture_runtime-icon-2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5359400"/>
            <a:ext cx="355600" cy="355600"/>
          </a:xfrm>
          <a:prstGeom prst="rect">
            <a:avLst/>
          </a:prstGeom>
        </p:spPr>
      </p:pic>
      <p:sp>
        <p:nvSpPr>
          <p:cNvPr id="23" name="architecture_runtime-text-22"/>
          <p:cNvSpPr/>
          <p:nvPr/>
        </p:nvSpPr>
        <p:spPr>
          <a:xfrm>
            <a:off x="5384800" y="5321300"/>
            <a:ext cx="304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LLM server-side opsional</a:t>
            </a:r>
            <a:endParaRPr lang="en-US" sz="2000" dirty="0"/>
          </a:p>
        </p:txBody>
      </p:sp>
      <p:sp>
        <p:nvSpPr>
          <p:cNvPr id="24" name="architecture_runtime-text-23"/>
          <p:cNvSpPr/>
          <p:nvPr/>
        </p:nvSpPr>
        <p:spPr>
          <a:xfrm>
            <a:off x="4876800" y="5943600"/>
            <a:ext cx="3657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gpt-5-mini menjelaskan hasil deterministik; tidak mendiagnosis, menghitung nutrisi, atau memberi dosis.</a:t>
            </a:r>
            <a:endParaRPr lang="en-US" sz="1500" dirty="0"/>
          </a:p>
        </p:txBody>
      </p:sp>
      <p:sp>
        <p:nvSpPr>
          <p:cNvPr id="25" name="architecture_runtime-shape-24"/>
          <p:cNvSpPr/>
          <p:nvPr/>
        </p:nvSpPr>
        <p:spPr>
          <a:xfrm>
            <a:off x="9372600" y="5080000"/>
            <a:ext cx="4572000" cy="1930400"/>
          </a:xfrm>
          <a:prstGeom prst="roundRect">
            <a:avLst>
              <a:gd name="adj" fmla="val 6579"/>
            </a:avLst>
          </a:prstGeom>
          <a:solidFill>
            <a:srgbClr val="F2EFE9"/>
          </a:solidFill>
          <a:ln/>
        </p:spPr>
      </p:sp>
      <p:pic>
        <p:nvPicPr>
          <p:cNvPr id="26" name="architecture_runtime-icon-2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400" y="5359400"/>
            <a:ext cx="355600" cy="355600"/>
          </a:xfrm>
          <a:prstGeom prst="rect">
            <a:avLst/>
          </a:prstGeom>
        </p:spPr>
      </p:pic>
      <p:sp>
        <p:nvSpPr>
          <p:cNvPr id="27" name="architecture_runtime-text-26"/>
          <p:cNvSpPr/>
          <p:nvPr/>
        </p:nvSpPr>
        <p:spPr>
          <a:xfrm>
            <a:off x="10185400" y="5321300"/>
            <a:ext cx="3302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Telegram opsional</a:t>
            </a:r>
            <a:endParaRPr lang="en-US" sz="2000" dirty="0"/>
          </a:p>
        </p:txBody>
      </p:sp>
      <p:sp>
        <p:nvSpPr>
          <p:cNvPr id="28" name="architecture_runtime-text-27"/>
          <p:cNvSpPr/>
          <p:nvPr/>
        </p:nvSpPr>
        <p:spPr>
          <a:xfrm>
            <a:off x="9677400" y="5943600"/>
            <a:ext cx="3911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Webhook + link code + consent. Live delivery belum dikonfigurasi pada sandbox ini.</a:t>
            </a:r>
            <a:endParaRPr lang="en-US" sz="1500" dirty="0"/>
          </a:p>
        </p:txBody>
      </p:sp>
      <p:sp>
        <p:nvSpPr>
          <p:cNvPr id="29" name="architecture_runtime-shape-28"/>
          <p:cNvSpPr/>
          <p:nvPr/>
        </p:nvSpPr>
        <p:spPr>
          <a:xfrm>
            <a:off x="762000" y="7366000"/>
            <a:ext cx="13208000" cy="889000"/>
          </a:xfrm>
          <a:prstGeom prst="roundRect">
            <a:avLst>
              <a:gd name="adj" fmla="val 11429"/>
            </a:avLst>
          </a:prstGeom>
          <a:solidFill>
            <a:srgbClr val="E8F0EB"/>
          </a:solidFill>
          <a:ln/>
        </p:spPr>
      </p:sp>
      <p:sp>
        <p:nvSpPr>
          <p:cNvPr id="30" name="architecture_runtime-text-29"/>
          <p:cNvSpPr/>
          <p:nvPr/>
        </p:nvSpPr>
        <p:spPr>
          <a:xfrm>
            <a:off x="1041400" y="7518400"/>
            <a:ext cx="12700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b="1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Verifikasi runtime yang sudah dilakukan:</a:t>
            </a:r>
            <a:r>
              <a:rPr lang="en-US" altLang="en-US" sz="16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backend tests lulus, frontend build lulus, API health `ok`, foreign-key violations `0`, smoke test end-to-end lulus, dan model `gpt-5-mini` benar-benar digunakan untuk pertanyaan non-darurat.</a:t>
            </a:r>
            <a:endParaRPr lang="en-US" sz="1600" dirty="0"/>
          </a:p>
        </p:txBody>
      </p:sp>
      <p:sp>
        <p:nvSpPr>
          <p:cNvPr id="31" name="architecture_runtime-text-30"/>
          <p:cNvSpPr/>
          <p:nvPr/>
        </p:nvSpPr>
        <p:spPr>
          <a:xfrm>
            <a:off x="14859000" y="858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admap-shape-1"/>
          <p:cNvSpPr/>
          <p:nvPr/>
        </p:nvSpPr>
        <p:spPr>
          <a:xfrm>
            <a:off x="762000" y="508000"/>
            <a:ext cx="965200" cy="5080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3" name="roadmap-text-2"/>
          <p:cNvSpPr/>
          <p:nvPr/>
        </p:nvSpPr>
        <p:spPr>
          <a:xfrm>
            <a:off x="762000" y="863600"/>
            <a:ext cx="11811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32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Roadmap menuju pilot yang bertanggung jawab</a:t>
            </a:r>
            <a:endParaRPr lang="en-US" sz="3200" dirty="0"/>
          </a:p>
        </p:txBody>
      </p:sp>
      <p:sp>
        <p:nvSpPr>
          <p:cNvPr id="4" name="roadmap-text-3"/>
          <p:cNvSpPr/>
          <p:nvPr/>
        </p:nvSpPr>
        <p:spPr>
          <a:xfrm>
            <a:off x="762000" y="1600200"/>
            <a:ext cx="1257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Skala hanya setelah evidence; setiap fase punya gate yang harus dibuktikan, bukan sekadar direncanakan.</a:t>
            </a:r>
            <a:endParaRPr lang="en-US" sz="2000" dirty="0"/>
          </a:p>
        </p:txBody>
      </p:sp>
      <p:sp>
        <p:nvSpPr>
          <p:cNvPr id="5" name="roadmap-shape-4"/>
          <p:cNvSpPr/>
          <p:nvPr/>
        </p:nvSpPr>
        <p:spPr>
          <a:xfrm>
            <a:off x="762000" y="2336800"/>
            <a:ext cx="2590800" cy="3429000"/>
          </a:xfrm>
          <a:prstGeom prst="roundRect">
            <a:avLst>
              <a:gd name="adj" fmla="val 4902"/>
            </a:avLst>
          </a:prstGeom>
          <a:solidFill>
            <a:srgbClr val="E8F0EB"/>
          </a:solidFill>
          <a:ln/>
        </p:spPr>
      </p:sp>
      <p:sp>
        <p:nvSpPr>
          <p:cNvPr id="6" name="roadmap-text-5"/>
          <p:cNvSpPr/>
          <p:nvPr/>
        </p:nvSpPr>
        <p:spPr>
          <a:xfrm>
            <a:off x="1041400" y="25908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Fase 0</a:t>
            </a:r>
            <a:endParaRPr lang="en-US" sz="2100" dirty="0"/>
          </a:p>
        </p:txBody>
      </p:sp>
      <p:sp>
        <p:nvSpPr>
          <p:cNvPr id="7" name="roadmap-text-6"/>
          <p:cNvSpPr/>
          <p:nvPr/>
        </p:nvSpPr>
        <p:spPr>
          <a:xfrm>
            <a:off x="1041400" y="3200400"/>
            <a:ext cx="20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Truth baseline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Bekukan copy absolut, pisahkan demo dari data nyata, dan pastikan UI tidak menjanjikan status tanpa bukti.</a:t>
            </a:r>
            <a:endParaRPr lang="en-US" sz="1500" dirty="0"/>
          </a:p>
        </p:txBody>
      </p:sp>
      <p:sp>
        <p:nvSpPr>
          <p:cNvPr id="8" name="roadmap-shape-7"/>
          <p:cNvSpPr/>
          <p:nvPr/>
        </p:nvSpPr>
        <p:spPr>
          <a:xfrm>
            <a:off x="3657600" y="2336800"/>
            <a:ext cx="2590800" cy="3429000"/>
          </a:xfrm>
          <a:prstGeom prst="roundRect">
            <a:avLst>
              <a:gd name="adj" fmla="val 4902"/>
            </a:avLst>
          </a:prstGeom>
          <a:solidFill>
            <a:srgbClr val="F2EFE9"/>
          </a:solidFill>
          <a:ln/>
        </p:spPr>
      </p:sp>
      <p:sp>
        <p:nvSpPr>
          <p:cNvPr id="9" name="roadmap-text-8"/>
          <p:cNvSpPr/>
          <p:nvPr/>
        </p:nvSpPr>
        <p:spPr>
          <a:xfrm>
            <a:off x="3937000" y="25908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Fase 1</a:t>
            </a:r>
            <a:endParaRPr lang="en-US" sz="2100" dirty="0"/>
          </a:p>
        </p:txBody>
      </p:sp>
      <p:sp>
        <p:nvSpPr>
          <p:cNvPr id="10" name="roadmap-text-9"/>
          <p:cNvSpPr/>
          <p:nvPr/>
        </p:nvSpPr>
        <p:spPr>
          <a:xfrm>
            <a:off x="3937000" y="3200400"/>
            <a:ext cx="20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Web vertical slice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Identity, profil anak, consent, measurement, audit trace, dan agent run minimal sebagai system of record.</a:t>
            </a:r>
            <a:endParaRPr lang="en-US" sz="1500" dirty="0"/>
          </a:p>
        </p:txBody>
      </p:sp>
      <p:sp>
        <p:nvSpPr>
          <p:cNvPr id="11" name="roadmap-shape-10"/>
          <p:cNvSpPr/>
          <p:nvPr/>
        </p:nvSpPr>
        <p:spPr>
          <a:xfrm>
            <a:off x="6553200" y="2336800"/>
            <a:ext cx="2590800" cy="3429000"/>
          </a:xfrm>
          <a:prstGeom prst="roundRect">
            <a:avLst>
              <a:gd name="adj" fmla="val 4902"/>
            </a:avLst>
          </a:prstGeom>
          <a:solidFill>
            <a:srgbClr val="E8F0EB"/>
          </a:solidFill>
          <a:ln/>
        </p:spPr>
      </p:sp>
      <p:sp>
        <p:nvSpPr>
          <p:cNvPr id="12" name="roadmap-text-11"/>
          <p:cNvSpPr/>
          <p:nvPr/>
        </p:nvSpPr>
        <p:spPr>
          <a:xfrm>
            <a:off x="6832600" y="25908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Fase 2</a:t>
            </a:r>
            <a:endParaRPr lang="en-US" sz="2100" dirty="0"/>
          </a:p>
        </p:txBody>
      </p:sp>
      <p:sp>
        <p:nvSpPr>
          <p:cNvPr id="13" name="roadmap-text-12"/>
          <p:cNvSpPr/>
          <p:nvPr/>
        </p:nvSpPr>
        <p:spPr>
          <a:xfrm>
            <a:off x="6832600" y="3200400"/>
            <a:ext cx="20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foundation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Snapshot canonical, provenance, quarantine, explicit nutrients, eligibility, dan review ahli untuk planner-ready.</a:t>
            </a:r>
            <a:endParaRPr lang="en-US" sz="1500" dirty="0"/>
          </a:p>
        </p:txBody>
      </p:sp>
      <p:sp>
        <p:nvSpPr>
          <p:cNvPr id="14" name="roadmap-shape-13"/>
          <p:cNvSpPr/>
          <p:nvPr/>
        </p:nvSpPr>
        <p:spPr>
          <a:xfrm>
            <a:off x="9448800" y="2336800"/>
            <a:ext cx="2590800" cy="3429000"/>
          </a:xfrm>
          <a:prstGeom prst="roundRect">
            <a:avLst>
              <a:gd name="adj" fmla="val 4902"/>
            </a:avLst>
          </a:prstGeom>
          <a:solidFill>
            <a:srgbClr val="F2EFE9"/>
          </a:solidFill>
          <a:ln/>
        </p:spPr>
      </p:sp>
      <p:sp>
        <p:nvSpPr>
          <p:cNvPr id="15" name="roadmap-text-14"/>
          <p:cNvSpPr/>
          <p:nvPr/>
        </p:nvSpPr>
        <p:spPr>
          <a:xfrm>
            <a:off x="9728200" y="25908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Fase 3</a:t>
            </a:r>
            <a:endParaRPr lang="en-US" sz="2100" dirty="0"/>
          </a:p>
        </p:txBody>
      </p:sp>
      <p:sp>
        <p:nvSpPr>
          <p:cNvPr id="16" name="roadmap-text-15"/>
          <p:cNvSpPr/>
          <p:nvPr/>
        </p:nvSpPr>
        <p:spPr>
          <a:xfrm>
            <a:off x="9728200" y="3200400"/>
            <a:ext cx="20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Telegram terbatas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Link code, webhook secret, dedup, outbox, consent, revocation, dan delivery reconciliation.</a:t>
            </a:r>
            <a:endParaRPr lang="en-US" sz="1500" dirty="0"/>
          </a:p>
        </p:txBody>
      </p:sp>
      <p:sp>
        <p:nvSpPr>
          <p:cNvPr id="17" name="roadmap-shape-16"/>
          <p:cNvSpPr/>
          <p:nvPr/>
        </p:nvSpPr>
        <p:spPr>
          <a:xfrm>
            <a:off x="12344400" y="2336800"/>
            <a:ext cx="2590800" cy="3429000"/>
          </a:xfrm>
          <a:prstGeom prst="roundRect">
            <a:avLst>
              <a:gd name="adj" fmla="val 4902"/>
            </a:avLst>
          </a:prstGeom>
          <a:solidFill>
            <a:srgbClr val="FFF4EF"/>
          </a:solidFill>
          <a:ln/>
        </p:spPr>
      </p:sp>
      <p:sp>
        <p:nvSpPr>
          <p:cNvPr id="18" name="roadmap-text-17"/>
          <p:cNvSpPr/>
          <p:nvPr/>
        </p:nvSpPr>
        <p:spPr>
          <a:xfrm>
            <a:off x="12623800" y="25908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E07A5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Fase 4+</a:t>
            </a:r>
            <a:endParaRPr lang="en-US" sz="2100" dirty="0"/>
          </a:p>
        </p:txBody>
      </p:sp>
      <p:sp>
        <p:nvSpPr>
          <p:cNvPr id="19" name="roadmap-text-18"/>
          <p:cNvSpPr/>
          <p:nvPr/>
        </p:nvSpPr>
        <p:spPr>
          <a:xfrm>
            <a:off x="12623800" y="3200400"/>
            <a:ext cx="20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b="1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Pilot Posyandu</a:t>
            </a:r>
            <a:endParaRPr lang="en-US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altLang="en-US" sz="1500" dirty="0">
                <a:solidFill>
                  <a:srgbClr val="2B30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Satu wilayah, peran jelas, stop criteria, clinical safety gate, privacy gate, dan pengukuran outcome.</a:t>
            </a:r>
            <a:endParaRPr lang="en-US" sz="1500" dirty="0"/>
          </a:p>
        </p:txBody>
      </p:sp>
      <p:sp>
        <p:nvSpPr>
          <p:cNvPr id="20" name="roadmap-shape-19"/>
          <p:cNvSpPr/>
          <p:nvPr/>
        </p:nvSpPr>
        <p:spPr>
          <a:xfrm>
            <a:off x="762000" y="6223000"/>
            <a:ext cx="14173200" cy="1524000"/>
          </a:xfrm>
          <a:prstGeom prst="roundRect">
            <a:avLst>
              <a:gd name="adj" fmla="val 8333"/>
            </a:avLst>
          </a:prstGeom>
          <a:solidFill>
            <a:srgbClr val="F2EFE9"/>
          </a:solidFill>
          <a:ln/>
        </p:spPr>
      </p:sp>
      <p:sp>
        <p:nvSpPr>
          <p:cNvPr id="21" name="roadmap-text-20"/>
          <p:cNvSpPr/>
          <p:nvPr/>
        </p:nvSpPr>
        <p:spPr>
          <a:xfrm>
            <a:off x="1066800" y="6477000"/>
            <a:ext cx="13208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1A4D2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Keputusan yang disarankan sekarang</a:t>
            </a:r>
            <a:endParaRPr lang="en-US" sz="2100" dirty="0"/>
          </a:p>
        </p:txBody>
      </p:sp>
      <p:sp>
        <p:nvSpPr>
          <p:cNvPr id="22" name="roadmap-text-21"/>
          <p:cNvSpPr/>
          <p:nvPr/>
        </p:nvSpPr>
        <p:spPr>
          <a:xfrm>
            <a:off x="1066800" y="7010400"/>
            <a:ext cx="1320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altLang="en-US" sz="16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Perbaiki data gizi eksplisit untuk planning, hubungkan token Telegram baru di environment aman, lalu uji pilot kecil dengan reviewer keselamatan sebelum mengklaim fitur produksi.</a:t>
            </a:r>
            <a:endParaRPr lang="en-US" sz="1600" dirty="0"/>
          </a:p>
        </p:txBody>
      </p:sp>
      <p:sp>
        <p:nvSpPr>
          <p:cNvPr id="23" name="roadmap-text-22"/>
          <p:cNvSpPr/>
          <p:nvPr/>
        </p:nvSpPr>
        <p:spPr>
          <a:xfrm>
            <a:off x="14859000" y="858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400" dirty="0">
                <a:solidFill>
                  <a:srgbClr val="5C6B6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NutriShield v2 — Use Case &amp; Arsitektur Agentic AI</dc:title>
  <dc:subject>NutriShield v2 — Use Case &amp; Arsitektur Agentic AI</dc:subject>
  <dc:creator>Manus</dc:creator>
  <cp:lastModifiedBy>Manus</cp:lastModifiedBy>
  <cp:revision>1</cp:revision>
  <dcterms:created xsi:type="dcterms:W3CDTF">2026-09-17T02:04:03Z</dcterms:created>
  <dcterms:modified xsi:type="dcterms:W3CDTF">2026-09-17T02:04:03Z</dcterms:modified>
</cp:coreProperties>
</file>